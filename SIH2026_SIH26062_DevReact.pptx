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700" b="1">
                <a:solidFill>
                  <a:srgbClr val="006699"/>
                </a:solidFill>
              </a:defRPr>
            </a:pPr>
            <a:r>
              <a:t>POLARIS: Integrated Polar Expedition Operations &amp; Asset Suite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Problem Statement ID –</a:t>
            </a:r>
            <a:r>
              <a:rPr b="0" sz="1200">
                <a:solidFill>
                  <a:srgbClr val="232323"/>
                </a:solidFill>
              </a:rPr>
              <a:t> SIH26062</a:t>
            </a:r>
            <a:endParaRPr lang="en-US" dirty="0"/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Problem Statement Title –</a:t>
            </a:r>
            <a:r>
              <a:rPr b="0" sz="1200">
                <a:solidFill>
                  <a:srgbClr val="232323"/>
                </a:solidFill>
              </a:rPr>
              <a:t> Integrated Polar Expedition Logistics and Asset Management System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Theme –</a:t>
            </a:r>
            <a:r>
              <a:rPr b="0" sz="1200">
                <a:solidFill>
                  <a:srgbClr val="232323"/>
                </a:solidFill>
              </a:rPr>
              <a:t> Smart Automation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PS Category –</a:t>
            </a:r>
            <a:r>
              <a:rPr b="0" sz="1200">
                <a:solidFill>
                  <a:srgbClr val="232323"/>
                </a:solidFill>
              </a:rPr>
              <a:t> Software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Team ID –</a:t>
            </a:r>
            <a:r>
              <a:rPr b="0" sz="1200">
                <a:solidFill>
                  <a:srgbClr val="232323"/>
                </a:solidFill>
              </a:rPr>
              <a:t> 137578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Team Name (Registered on portal) –</a:t>
            </a:r>
            <a:r>
              <a:rPr b="0" sz="1200">
                <a:solidFill>
                  <a:srgbClr val="232323"/>
                </a:solidFill>
              </a:rPr>
              <a:t> Dev React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Team Leader –</a:t>
            </a:r>
            <a:r>
              <a:rPr b="0" sz="1200">
                <a:solidFill>
                  <a:srgbClr val="232323"/>
                </a:solidFill>
              </a:rPr>
              <a:t> Sparsh Sharma (sparshsharmadev@gmail.com | 9448051825)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Institute –</a:t>
            </a:r>
            <a:r>
              <a:rPr b="0" sz="1200">
                <a:solidFill>
                  <a:srgbClr val="232323"/>
                </a:solidFill>
              </a:rPr>
              <a:t> Rajkiya Engineering College Mirzapur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003366"/>
                </a:solidFill>
              </a:rPr>
              <a:t>Sponsoring Organization –</a:t>
            </a:r>
            <a:r>
              <a:rPr b="0" sz="1200">
                <a:solidFill>
                  <a:srgbClr val="232323"/>
                </a:solidFill>
              </a:rPr>
              <a:t> Ministry of Earth Sciences (MoES) / NCPOR, Goa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1900" b="1">
                <a:solidFill>
                  <a:srgbClr val="003366"/>
                </a:solidFill>
              </a:defRPr>
            </a:pPr>
            <a:r>
              <a:t>POLARIS: Centralized Polar Expedition ERP &amp; Asset Operations Suite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b="1" sz="1150">
                <a:solidFill>
                  <a:srgbClr val="003366"/>
                </a:solidFill>
              </a:rPr>
              <a:t>Proposed Solution (Idea / Prototype Overview):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Centralized digital operations hub connecting NCPOR Goa with Antarctic stations (Bharati, Maitri), Arctic base (Himadri), and icebreaker vessels (MV Vasily Golovnin).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Unifies 4 core pillars: Expedition Voyage Scheduling, Cold-Chain Asset Inventory, Personnel Safety, and Blizzard Emergency Response.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Detailed Explanation of the Proposed Solution: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Expedition Voyage Planner: </a:t>
            </a:r>
            <a:r>
              <a:rPr b="0" sz="1000">
                <a:solidFill>
                  <a:srgbClr val="232323"/>
                </a:solidFill>
              </a:rPr>
              <a:t>Coordinates chartered vessel routes (Goa ➔ Cape Town ➔ Ice Shelf), cargo payload balancing, and mission Gantt milestones.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Cold-Chain Asset ERP: </a:t>
            </a:r>
            <a:r>
              <a:rPr b="0" sz="1000">
                <a:solidFill>
                  <a:srgbClr val="232323"/>
                </a:solidFill>
              </a:rPr>
              <a:t>Tracks Arctic-grade diesel, Jet A-1 aviation fuel, freeze-dried rations, and snowcat (PistenBully) vehicle spares with sub-zero shelf-life monitoring.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Personnel Safety &amp; Roster: </a:t>
            </a:r>
            <a:r>
              <a:rPr b="0" sz="1000">
                <a:solidFill>
                  <a:srgbClr val="232323"/>
                </a:solidFill>
              </a:rPr>
              <a:t>Digital station muster rolls, field camp geofencing (Schirmacher Oasis, Larsemann Hills), and daily scientist health clearances.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Emergency SOS &amp; Hazard Cockpit: </a:t>
            </a:r>
            <a:r>
              <a:rPr b="0" sz="1000">
                <a:solidFill>
                  <a:srgbClr val="232323"/>
                </a:solidFill>
              </a:rPr>
              <a:t>Automated 3-tier blizzard threat level tracking (Condition 1/2/3) and 1-click COSPAS-SARSAT satellite distress beacon dispatch.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How it Addresses the Problem: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Eliminates disconnected paper manifests and spreadsheets; accelerates ice-edge vessel unloading reconciliation from 72h to &lt;6h.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Prevents life-support failures by forecasting power generator fuel depletion curves during 14-month polar night overwintering cycles.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Innovation and Uniqueness of the Solution: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100% Local-First Resilience: Operates completely offline during polar satellite dropouts; auto-merges conflict-free when links flicker on.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Predictive Burn-Rate Modeling: Correlates ambient sub-zero temperatures (-40°C) with active headcount to predict resource exhaustion months ahead.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SIH 2026 Idea Submission | PS: SIH26062 | MoES / NCPOR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React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03366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b="1" sz="1150">
                <a:solidFill>
                  <a:srgbClr val="003366"/>
                </a:solidFill>
              </a:rPr>
              <a:t>Technologies to be Used: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Local-First Offline Sync: </a:t>
            </a:r>
            <a:r>
              <a:rPr b="0" sz="1000">
                <a:solidFill>
                  <a:srgbClr val="232323"/>
                </a:solidFill>
              </a:rPr>
              <a:t>Automerge / Yjs CRDTs (Conflict-Free Replicated Data Types) paired with client-side IndexedDB &amp; Service Workers for sub-5ms local transactions with zero internet dependency.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Distributed Database Architecture: </a:t>
            </a:r>
            <a:r>
              <a:rPr b="0" sz="1000">
                <a:solidFill>
                  <a:srgbClr val="232323"/>
                </a:solidFill>
              </a:rPr>
              <a:t>Lightweight SQLite edge databases embedded at polar stations and ships, syncing with an enterprise PostgreSQL + PostGIS master cluster at NCPOR Goa.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Transport &amp; Satellite Protocol: </a:t>
            </a:r>
            <a:r>
              <a:rPr b="0" sz="1000">
                <a:solidFill>
                  <a:srgbClr val="232323"/>
                </a:solidFill>
              </a:rPr>
              <a:t>NATS / MQTT store-and-forward messaging over Iridium Certus and Starlink Maritime using compressed binary delta payloads to minimize satellite bandwidth bills.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Polar GIS Engine: </a:t>
            </a:r>
            <a:r>
              <a:rPr b="0" sz="1000">
                <a:solidFill>
                  <a:srgbClr val="232323"/>
                </a:solidFill>
              </a:rPr>
              <a:t>Configured with EPSG:3031 (Antarctic Polar Stereographic Projection) to completely eliminate Web Mercator polar map distortion.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Edge Machine Learning: </a:t>
            </a:r>
            <a:r>
              <a:rPr b="0" sz="1000">
                <a:solidFill>
                  <a:srgbClr val="232323"/>
                </a:solidFill>
              </a:rPr>
              <a:t>Resource burn-rate regression models exported to ONNX format and executed on-device via onnxruntime with zero cloud dependency.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Station Edge Microservices: </a:t>
            </a:r>
            <a:r>
              <a:rPr b="0" sz="1000">
                <a:solidFill>
                  <a:srgbClr val="232323"/>
                </a:solidFill>
              </a:rPr>
              <a:t>Containerized Python / Go runtime deployed via Docker on rugged edge hardware.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Methodology and Process for Implementation: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Step 1 (Local Edge Capture): </a:t>
            </a:r>
            <a:r>
              <a:rPr b="0" sz="1000">
                <a:solidFill>
                  <a:srgbClr val="232323"/>
                </a:solidFill>
              </a:rPr>
              <a:t>Field officers log cargo movements, muster check-ins, or station telemetry locally; data persists in local IndexedDB in &lt;5ms.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Step 2 (Conflict-Free Replicated State): </a:t>
            </a:r>
            <a:r>
              <a:rPr b="0" sz="1000">
                <a:solidFill>
                  <a:srgbClr val="232323"/>
                </a:solidFill>
              </a:rPr>
              <a:t>Edge nodes log state mutations; CRDT algorithms mathematically merge multi-station concurrent edits without data collisions.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Step 3 (Burst Delta Synchronization): </a:t>
            </a:r>
            <a:r>
              <a:rPr b="0" sz="1000">
                <a:solidFill>
                  <a:srgbClr val="232323"/>
                </a:solidFill>
              </a:rPr>
              <a:t>When intermittent satellite windows open, compressed binary delta packets auto-reconcile with NCPOR Goa HQ.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Step 4 (Automated Hazard Indexing): </a:t>
            </a:r>
            <a:r>
              <a:rPr b="0" sz="1000">
                <a:solidFill>
                  <a:srgbClr val="232323"/>
                </a:solidFill>
              </a:rPr>
              <a:t>Live anemometer and weather feeds automatically enforce safety protocols (wind gusts &gt;55 kts trigger Blizzard Condition 1 Lockout).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SIH 2026 Idea Submission | PS: SIH26062 | MoES / NCPOR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React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03366"/>
                </a:solidFill>
              </a:defRPr>
            </a:pPr>
            <a:r>
              <a:t>FEASIBILITY ANALYSIS &amp; POLAR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50">
                <a:solidFill>
                  <a:srgbClr val="003366"/>
                </a:solidFill>
              </a:rPr>
              <a:t>Analysis of Feasibility: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Technical Feasibility: </a:t>
            </a:r>
            <a:r>
              <a:rPr b="0" sz="1000">
                <a:solidFill>
                  <a:srgbClr val="232323"/>
                </a:solidFill>
              </a:rPr>
              <a:t>Built on proven, low-overhead containerized standards (Docker, SQLite, PWA); operates reliably on existing station edge hardware and rugged tablets without specialized procurement.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Operational Viability: </a:t>
            </a:r>
            <a:r>
              <a:rPr b="0" sz="1000">
                <a:solidFill>
                  <a:srgbClr val="232323"/>
                </a:solidFill>
              </a:rPr>
              <a:t>Replaces vulnerable paper manifests and disconnected Excel sheets, fitting seamlessly into NCPOR's annual expedition cycles.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Air-Gapped Sovereign Design: </a:t>
            </a:r>
            <a:r>
              <a:rPr b="0" sz="1000">
                <a:solidFill>
                  <a:srgbClr val="232323"/>
                </a:solidFill>
              </a:rPr>
              <a:t>Zero dependency on foreign commercial cloud providers guarantees complete data privacy and compliance with government IT security mandates.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Potential Challenges and Risks: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Severe Satellite Blackouts: </a:t>
            </a:r>
            <a:r>
              <a:rPr b="0" sz="1000">
                <a:solidFill>
                  <a:srgbClr val="232323"/>
                </a:solidFill>
              </a:rPr>
              <a:t>Extended ionospheric blizzards and solar storms frequently cut off polar satellite connectivity for weeks.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Extreme Cold Environmental Stress (-40°C): </a:t>
            </a:r>
            <a:r>
              <a:rPr b="0" sz="1000">
                <a:solidFill>
                  <a:srgbClr val="232323"/>
                </a:solidFill>
              </a:rPr>
              <a:t>Severe sub-zero conditions risk drive freezing, thermal contraction, and station hardware failures.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Strict International Polar Governance: </a:t>
            </a:r>
            <a:r>
              <a:rPr b="0" sz="1000">
                <a:solidFill>
                  <a:srgbClr val="232323"/>
                </a:solidFill>
              </a:rPr>
              <a:t>Antarctic operations carry legal liability for hazardous waste disposal and fuel bunkering compliance.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Strategies for Overcoming These Challenges: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Store-and-Forward Sync Queue: </a:t>
            </a:r>
            <a:r>
              <a:rPr b="0" sz="1000">
                <a:solidFill>
                  <a:srgbClr val="232323"/>
                </a:solidFill>
              </a:rPr>
              <a:t>Local edge nodes operate autonomously indefinitely; state changes queue safely and sync in micro-bursts upon link restoration.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Dual-Node Redundant Clustering: </a:t>
            </a:r>
            <a:r>
              <a:rPr b="0" sz="1000">
                <a:solidFill>
                  <a:srgbClr val="232323"/>
                </a:solidFill>
              </a:rPr>
              <a:t>Mirrored active-passive edge instances at Bharati and Maitri with automated hourly encrypted flash backups.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Madrid Protocol Environmental Ledger: </a:t>
            </a:r>
            <a:r>
              <a:rPr b="0" sz="1000">
                <a:solidFill>
                  <a:srgbClr val="232323"/>
                </a:solidFill>
              </a:rPr>
              <a:t>Automated compliance tracking for hazardous materials, fuel bunkering, and mandatory return waste manifests.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6E6E6E"/>
                </a:solidFill>
              </a:defRPr>
            </a:pPr>
            <a:r>
              <a:t>SIH 2026 Idea Submission | PS: SIH26062 | MoES / NCPOR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React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03366"/>
                </a:solidFill>
              </a:defRPr>
            </a:pPr>
            <a:r>
              <a:t>STRATEGIC, ECONOMIC &amp; LIFE-SAFETY IMPACT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50">
                <a:solidFill>
                  <a:srgbClr val="003366"/>
                </a:solidFill>
              </a:rPr>
              <a:t>Potential Impact on Target Audience (MoES, NCPOR &amp; Expedition Crews):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Atmanirbhar Polar Governance: </a:t>
            </a:r>
            <a:r>
              <a:rPr b="0" sz="1000">
                <a:solidFill>
                  <a:srgbClr val="232323"/>
                </a:solidFill>
              </a:rPr>
              <a:t>Delivers a sovereign, indigenously developed polar operational backbone, elevating India's leadership standing at Antarctic Treaty Consultative Meetings (ATCM).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Accelerated Ice-Edge Offload: </a:t>
            </a:r>
            <a:r>
              <a:rPr b="0" sz="1000">
                <a:solidFill>
                  <a:srgbClr val="232323"/>
                </a:solidFill>
              </a:rPr>
              <a:t>Slashes chartered icebreaker cargo offload manifest reconciliation from 72 hours to under 6 hours on the fast ice shelf.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• 360° Real-Time Operational Visibility: </a:t>
            </a:r>
            <a:r>
              <a:rPr b="0" sz="1000">
                <a:solidFill>
                  <a:srgbClr val="232323"/>
                </a:solidFill>
              </a:rPr>
              <a:t>NCPOR leadership gains continuous situational awareness over station occupancy, fuel health, and ongoing scientific field traverses.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150">
                <a:solidFill>
                  <a:srgbClr val="003366"/>
                </a:solidFill>
              </a:rPr>
              <a:t>Benefits of the Solution: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000">
                <a:solidFill>
                  <a:srgbClr val="006699"/>
                </a:solidFill>
              </a:rPr>
              <a:t>• Economic &amp; Logistical Benefits: 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Prevents multi-crore supply chain losses from misplaced machinery spares and damaged perishable rations.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Eliminates costly emergency air-charters from Cape Town through accurate seasonal burn-rate forecasting.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Protects wintering crews by ensuring unbroken power generator fuel reserves throughout 14-month polar nights.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000">
                <a:solidFill>
                  <a:srgbClr val="006699"/>
                </a:solidFill>
              </a:rPr>
              <a:t>• Social &amp; Human Safety Benefits (Target Zero Casualties): 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Real-time geofenced field tracking and automated weather lockouts prevent whiteout disorientation.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Slashes blizzard Search &amp; Rescue (SAR) dispatch latency from hours to under 2 minutes.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b="1" sz="1000">
                <a:solidFill>
                  <a:srgbClr val="006699"/>
                </a:solidFill>
              </a:rPr>
              <a:t>• Environmental Compliance Benefits (Madrid Protocol): 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32323"/>
                </a:solidFill>
              </a:rPr>
              <a:t>  - Automated tracking of hazardous chemicals, fuel bunkering, and mandatory return-waste back to India.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6E6E6E"/>
                </a:solidFill>
              </a:defRPr>
            </a:pPr>
            <a:r>
              <a:t>SIH 2026 Idea Submission | PS: SIH26062 | MoES / NCPOR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React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03366"/>
                </a:solidFill>
              </a:defRPr>
            </a:pPr>
            <a:r>
              <a:t>RESEARCH FOUNDATIONS, STANDARDS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150">
                <a:solidFill>
                  <a:srgbClr val="003366"/>
                </a:solidFill>
              </a:rPr>
              <a:t>Institutional Polar Research Foundations: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1. National Centre for Polar and Ocean Research (NCPOR): </a:t>
            </a:r>
            <a:r>
              <a:rPr b="0" sz="1000">
                <a:solidFill>
                  <a:srgbClr val="232323"/>
                </a:solidFill>
              </a:rPr>
              <a:t>Official Logistics &amp; Station Operations Documentation for the 41st, 42nd, 43rd, and 44th Indian Scientific Expeditions to Antarctica (ISEA). (URL: ncpor.res.in)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2. COMNAP Polar Standards: </a:t>
            </a:r>
            <a:r>
              <a:rPr b="0" sz="1000">
                <a:solidFill>
                  <a:srgbClr val="232323"/>
                </a:solidFill>
              </a:rPr>
              <a:t>Council of Managers of National Antarctic Programs — International standards for Antarctic station safety, environmental stewardship, and air operations. (URL: comnap.aq)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3. SCAR Best Practices: </a:t>
            </a:r>
            <a:r>
              <a:rPr b="0" sz="1000">
                <a:solidFill>
                  <a:srgbClr val="232323"/>
                </a:solidFill>
              </a:rPr>
              <a:t>Scientific Committee on Antarctic Research — Data governance and environmental monitoring guidelines. (URL: scar.org)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4. The Protocol on Environmental Protection to the Antarctic Treaty (Madrid Protocol): </a:t>
            </a:r>
            <a:r>
              <a:rPr b="0" sz="1000">
                <a:solidFill>
                  <a:srgbClr val="232323"/>
                </a:solidFill>
              </a:rPr>
              <a:t>Annex III (Waste Disposal and Management) &amp; Annex IV (Prevention of Marine Pollution). (URL: ats.aq)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b="1" sz="1150">
                <a:solidFill>
                  <a:srgbClr val="003366"/>
                </a:solidFill>
              </a:rPr>
              <a:t>System Engineering &amp; Distributed Computing Standards: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5. Local-First &amp; CRDT Architecture: </a:t>
            </a:r>
            <a:r>
              <a:rPr b="0" sz="1000">
                <a:solidFill>
                  <a:srgbClr val="232323"/>
                </a:solidFill>
              </a:rPr>
              <a:t>Kleppmann, M. et al., 'Local-First Software: You own your data, in spite of the cloud', Onward! ACM; Conflict-Free Replicated Data Types (Automerge / Yjs).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6. Antarctic Geospatial Coordinate Reference System: </a:t>
            </a:r>
            <a:r>
              <a:rPr b="0" sz="1000">
                <a:solidFill>
                  <a:srgbClr val="232323"/>
                </a:solidFill>
              </a:rPr>
              <a:t>EPSG:3031 / WGS 84 Antarctic Polar Stereographic Projection Standard (European Petroleum Survey Group).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7. Low-Bandwidth Transport Protocols: </a:t>
            </a:r>
            <a:r>
              <a:rPr b="0" sz="1000">
                <a:solidFill>
                  <a:srgbClr val="232323"/>
                </a:solidFill>
              </a:rPr>
              <a:t>ISO/IEC 20922 (MQTT Standard) &amp; NATS Messaging Protocol for high-latency, packet-drop prone satellite communication links.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232323"/>
                </a:solidFill>
              </a:rPr>
              <a:t>8. COSPAS-SARSAT Emergency Standards: </a:t>
            </a:r>
            <a:r>
              <a:rPr b="0" sz="1000">
                <a:solidFill>
                  <a:srgbClr val="232323"/>
                </a:solidFill>
              </a:rPr>
              <a:t>International specification for 406 MHz satellite distress beacons and Search &amp; Rescue (SAR) tracking protocols.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6E6E6E"/>
                </a:solidFill>
              </a:defRPr>
            </a:pPr>
            <a:r>
              <a:t>SIH 2026 Idea Submission | PS: SIH26062 | MoES / NCPOR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 React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