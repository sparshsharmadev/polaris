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9fc18b40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b9fc18b40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9fc18b40_3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g3fb9fc18b40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b9fc18b40_3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b9fc18b40_3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0" name="Google Shape;150;g3fb9fc18b40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b9fc18b40_3_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9fc18b40_3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2" name="Google Shape;162;g3fb9fc18b40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b9fc18b40_3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9fc18b40_3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4" name="Google Shape;174;g3fb9fc18b40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9fc18b40_3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9fc18b40_3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6" name="Google Shape;186;g3fb9fc18b40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b9fc18b40_3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242585" y="638641"/>
            <a:ext cx="3478954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934264" y="48646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300"/>
              <a:buNone/>
            </a:pPr>
            <a:r>
              <a:rPr b="1" lang="en" sz="1300">
                <a:solidFill>
                  <a:srgbClr val="006699"/>
                </a:solidFill>
              </a:rPr>
              <a:t>POLARIS: Integrated Polar Expedition Operations &amp; Asset Suite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5"/>
          <p:cNvSpPr txBox="1"/>
          <p:nvPr>
            <p:ph type="ctrTitle"/>
          </p:nvPr>
        </p:nvSpPr>
        <p:spPr>
          <a:xfrm>
            <a:off x="248464" y="-395068"/>
            <a:ext cx="7772400" cy="1557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3366"/>
                </a:solidFill>
              </a:rPr>
              <a:t>SMART INDIA HACKATHON 2026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0" y="979800"/>
            <a:ext cx="57474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Problem Statement ID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SIH26062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Problem Statement Title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Integrated Polar Expedition Logistics and Asset Management System</a:t>
            </a:r>
            <a:endParaRPr b="0" i="0" sz="20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Theme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Smart Automation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PS Category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Software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Team ID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137578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Team Name (Registered on portal)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Dev React</a:t>
            </a:r>
            <a:endParaRPr sz="2300"/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>
            <p:ph type="title"/>
          </p:nvPr>
        </p:nvSpPr>
        <p:spPr>
          <a:xfrm>
            <a:off x="137249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66"/>
                </a:solidFill>
              </a:rPr>
              <a:t>POLARIS: Centralized Polar Expedition ERP &amp; Asset Operations Suite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-49000" y="970650"/>
            <a:ext cx="88782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794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Noto Sans Symbols"/>
              <a:buChar char="❖"/>
            </a:pPr>
            <a:r>
              <a:rPr b="1" i="0" lang="en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Proposed Solution (Idea / Prototype Overview):</a:t>
            </a:r>
            <a:endParaRPr b="0" i="0" sz="27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Centralized digital operations hub connecting NCPOR Goa with Antarctic stations (Bharati, Maitri), Arctic base (Himadri), and icebreaker vessels (MV Vasily Golovnin).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Unifies 4 core pillars: Expedition Voyage Scheduling, Cold-Chain Asset Inventory, Personnel Safety, and Blizzard Emergency Response.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Detailed Explanation of the Proposed Solution: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Expedition Voyage Planner: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Coordinates chartered vessel routes (Goa ➔ Cape Town ➔ Ice Shelf), cargo payload balancing, and mission Gantt milestones.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Cold-Chain Asset ERP: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Tracks Arctic-grade diesel, Jet A-1 aviation fuel, freeze-dried rations, and snowcat (PistenBully) vehicle spares with sub-zero shelf-life monitoring.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Personnel Safety &amp; Roster: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Digital station muster rolls, field camp geofencing (Schirmacher Oasis, Larsemann Hills), and daily scientist health clearances.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Emergency SOS &amp; Hazard Cockpit: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Automated 3-tier blizzard threat level tracking (Condition 1/2/3) and 1-click COSPAS-SARSAT satellite distress beacon dispatch.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How it Addresses the Problem: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Eliminates disconnected paper manifests and spreadsheets; accelerates ice-edge vessel unloading reconciliation from 72h to &lt;6h.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Prevents life-support failures by forecasting power generator fuel depletion curves during 14-month polar night overwintering cycles.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Innovation and Uniqueness of the Solution: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100% Local-First Resilience: Operates completely offline during polar satellite dropouts; auto-merges conflict-free when links flicker on.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Predictive Burn-Rate Modeling: Correlates ambient sub-zero temperatures (-40°C) with active headcount to predict resource exhaustion months ahead.</a:t>
            </a:r>
            <a:endParaRPr/>
          </a:p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 title="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185100" cy="1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66"/>
                </a:solidFill>
              </a:rPr>
              <a:t>TECHNICAL APPROACH &amp; SYSTEM ARCHITECTURE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457200" y="1071801"/>
            <a:ext cx="7038900" cy="3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66700" lvl="0" marL="254000" marR="0" rtl="0" algn="just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Technologies to be Used:</a:t>
            </a:r>
            <a:endParaRPr b="1" i="0" sz="10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</a:pPr>
            <a:r>
              <a:rPr b="1"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Frontend: React.js (Vite) + Progressive Web App (PWA) — Fast, responsive client-side interface equipped with browser IndexedDB caching for 100% offline field operation.</a:t>
            </a:r>
            <a:endParaRPr b="1"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</a:pPr>
            <a:r>
              <a:rPr b="1"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Backend: Python (FastAPI) — Lightweight, high-performance REST API managing voyage schedules, cargo manifests, and emergency alert routing.</a:t>
            </a:r>
            <a:endParaRPr b="1"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</a:pPr>
            <a:r>
              <a:rPr b="1"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Database Layer: SQLite (Edge) embedded at Maitri &amp; Bharati station servers for zero-admin local storage, syncing with a central PostgreSQL database at NCPOR Goa.</a:t>
            </a:r>
            <a:endParaRPr b="1"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</a:pPr>
            <a:r>
              <a:rPr b="1"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Offline Data Sync: Store-and-Forward Synchronization Queue — Safely queues local changes during satellite blackouts and auto-uploads when Iridium/Starlink links reconnect.</a:t>
            </a:r>
            <a:endParaRPr b="1"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</a:pPr>
            <a:r>
              <a:rPr b="1"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AI &amp; Machine Learning: Python (Scikit-Learn) — Predictive regression model forecasting wintering fuel and ration depletion curves based on ambient weather and headcount.</a:t>
            </a:r>
            <a:endParaRPr b="1"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</a:pPr>
            <a:r>
              <a:rPr b="1"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Deployment: Docker Containers — Lightweight, isolated container deployment running identically on station PCs, rugged tablets, and cloud servers.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Methodology and Process for Implementation:</a:t>
            </a:r>
            <a:endParaRPr sz="12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Step 1 (Local Edge Capture): </a:t>
            </a:r>
            <a:r>
              <a:rPr b="0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Field officers log cargo movements, muster check-ins, or station telemetry locally; data persists in local IndexedDB in &lt;5ms.</a:t>
            </a:r>
            <a:endParaRPr sz="1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Step 2 (Conflict-Free Replicated State): </a:t>
            </a:r>
            <a:r>
              <a:rPr b="0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Edge nodes log state mutations; CRDT algorithms mathematically merge multi-station concurrent edits without data collisions.</a:t>
            </a:r>
            <a:endParaRPr sz="1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Step 3 (Burst Delta Synchronization): </a:t>
            </a:r>
            <a:r>
              <a:rPr b="0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When intermittent satellite windows open, compressed binary delta packets auto-reconcile with NCPOR Goa HQ.</a:t>
            </a:r>
            <a:endParaRPr sz="1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Step 4 (Automated Hazard Indexing): </a:t>
            </a:r>
            <a:r>
              <a:rPr b="0" i="0" lang="en" sz="9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Live anemometer and weather feeds automatically enforce safety protocols (wind gusts &gt;55 kts trigger Blizzard Condition 1 Lockout).</a:t>
            </a:r>
            <a:endParaRPr sz="1200"/>
          </a:p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7" name="Google Shape;157;p27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 title="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185100" cy="1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66"/>
                </a:solidFill>
              </a:rPr>
              <a:t>FEASIBILITY ANALYSIS &amp; POLAR RISK MITIGATION</a:t>
            </a:r>
            <a:endParaRPr/>
          </a:p>
        </p:txBody>
      </p:sp>
      <p:sp>
        <p:nvSpPr>
          <p:cNvPr id="167" name="Google Shape;167;p28"/>
          <p:cNvSpPr txBox="1"/>
          <p:nvPr/>
        </p:nvSpPr>
        <p:spPr>
          <a:xfrm>
            <a:off x="457200" y="1042416"/>
            <a:ext cx="70389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7305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Analysis of Feasibility: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Technical Feasibility: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Built on proven, low-overhead containerized standards (Docker, SQLite, PWA); operates reliably on existing station edge hardware and rugged tablets without specialized procurement.</a:t>
            </a:r>
            <a:endParaRPr sz="13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Operational Viability: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Replaces vulnerable paper manifests and disconnected Excel sheets, fitting seamlessly into NCPOR's annual expedition cycles.</a:t>
            </a:r>
            <a:endParaRPr sz="13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Air-Gapped Sovereign Design: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Zero dependency on foreign commercial cloud providers guarantees complete data privacy and compliance with government IT security mandates.</a:t>
            </a:r>
            <a:endParaRPr sz="13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Potential Challenges and Risks: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Severe Satellite Blackouts: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Extended ionospheric blizzards and solar storms frequently cut off polar satellite connectivity for weeks.</a:t>
            </a:r>
            <a:endParaRPr sz="13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Extreme Cold Environmental Stress (-40°C):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Severe sub-zero conditions risk drive freezing, thermal contraction, and station hardware failures.</a:t>
            </a:r>
            <a:endParaRPr sz="13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Strict International Polar Governance: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Antarctic operations carry legal liability for hazardous waste disposal and fuel bunkering compliance.</a:t>
            </a:r>
            <a:endParaRPr sz="13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Strategies for Overcoming These Challenges: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Store-and-Forward Sync Queue: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Local edge nodes operate autonomously indefinitely; state changes queue safely and sync in micro-bursts upon link restoration.</a:t>
            </a:r>
            <a:endParaRPr sz="13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Dual-Node Redundant Clustering: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Mirrored active-passive edge instances at Bharati and Maitri with automated hourly encrypted flash backups.</a:t>
            </a:r>
            <a:endParaRPr sz="13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Madrid Protocol Environmental Ledger: </a:t>
            </a:r>
            <a:r>
              <a:rPr b="0" i="0" lang="en" sz="1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Automated compliance tracking for hazardous materials, fuel bunkering, and mandatory return waste manifests.</a:t>
            </a:r>
            <a:endParaRPr sz="1300"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28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700"/>
              <a:buFont typeface="Oswald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 title="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185100" cy="1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66"/>
                </a:solidFill>
              </a:rPr>
              <a:t>STRATEGIC, ECONOMIC &amp; LIFE-SAFETY IMPACT</a:t>
            </a:r>
            <a:endParaRPr/>
          </a:p>
        </p:txBody>
      </p:sp>
      <p:sp>
        <p:nvSpPr>
          <p:cNvPr id="179" name="Google Shape;179;p29"/>
          <p:cNvSpPr txBox="1"/>
          <p:nvPr/>
        </p:nvSpPr>
        <p:spPr>
          <a:xfrm>
            <a:off x="457200" y="1028300"/>
            <a:ext cx="8229600" cy="3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300"/>
              <a:buFont typeface="Arial"/>
              <a:buChar char="•"/>
            </a:pPr>
            <a:r>
              <a:rPr b="1" i="0" lang="en" sz="13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Potential Impact on Target Audience (MoES, NCPOR &amp; Expedition Crews):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Atmanirbhar Polar Governance: </a:t>
            </a:r>
            <a:r>
              <a:rPr b="0" i="0" lang="en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Delivers a sovereign, indigenously developed polar operational backbone, elevating India's leadership standing at Antarctic Treaty Consultative Meetings (ATCM).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Accelerated Ice-Edge Offload: </a:t>
            </a:r>
            <a:r>
              <a:rPr b="0" i="0" lang="en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Slashes chartered icebreaker cargo offload manifest reconciliation from 72 hours to under 6 hours on the fast ice shelf.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360° Real-Time Operational Visibility: </a:t>
            </a:r>
            <a:r>
              <a:rPr b="0" i="0" lang="en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NCPOR leadership gains continuous situational awareness over station occupancy, fuel health, and ongoing scientific field traverses.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Benefits of the Solution: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• Economic &amp; Logistical Benefits: 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 - Prevents multi-crore supply chain losses from misplaced machinery spares and damaged perishable rations.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 - Eliminates costly emergency air-charters from Cape Town through accurate seasonal burn-rate forecasting.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 - Protects wintering crews by ensuring unbroken power generator fuel reserves throughout 14-month polar nights.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• Social &amp; Human Safety Benefits (Target Zero Casualties): 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 - Real-time geofenced field tracking and automated weather lockouts prevent whiteout disorientation.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 - Slashes blizzard Search &amp; Rescue (SAR) dispatch latency from hours to under 2 minutes.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• Environmental Compliance Benefits (Madrid Protocol): 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 - Automated tracking of hazardous chemicals, fuel bunkering, and mandatory return-waste back to India.</a:t>
            </a:r>
            <a:endParaRPr sz="1500"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29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700"/>
              <a:buFont typeface="Oswald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 title="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185100" cy="1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66"/>
                </a:solidFill>
              </a:rPr>
              <a:t>RESEARCH FOUNDATIONS, STANDARDS &amp; REFERENCES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545375" y="1073000"/>
            <a:ext cx="82296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794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Institutional Polar Research Foundations: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1. National Centre for Polar and Ocean Research (NCPOR):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Official Logistics &amp; Station Operations Documentation for the 41st, 42nd, 43rd, and 44th Indian Scientific Expeditions to Antarctica (ISEA). (URL: ncpor.res.in)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2. COMNAP Polar Standards: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Council of Managers of National Antarctic Programs — International standards for Antarctic station safety, environmental stewardship, and air operations. (URL: comnap.aq)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3. SCAR Best Practices: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Scientific Committee on Antarctic Research — Data governance and environmental monitoring guidelines. (URL: scar.org)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4. The Protocol on Environmental Protection to the Antarctic Treaty (Madrid Protocol):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Annex III (Waste Disposal and Management) &amp; Annex IV (Prevention of Marine Pollution). (URL: ats.aq)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System Engineering &amp; Distributed Computing Standards: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5. Local-First &amp; CRDT Architecture: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Kleppmann, M. et al., 'Local-First Software: You own your data, in spite of the cloud', Onward! ACM; Conflict-Free Replicated Data Types (Automerge / Yjs).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6. Antarctic Geospatial Coordinate Reference System: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EPSG:3031 / WGS 84 Antarctic Polar Stereographic Projection Standard (European Petroleum Survey Group).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7. Low-Bandwidth Transport Protocols: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ISO/IEC 20922 (MQTT Standard) &amp; NATS Messaging Protocol for high-latency, packet-drop prone satellite communication links.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8. COSPAS-SARSAT Emergency Standards: </a:t>
            </a:r>
            <a:r>
              <a:rPr b="0" i="0" lang="en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International specification for 406 MHz satellite distress beacons and Search &amp; Rescue (SAR) tracking protocols.</a:t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3" name="Google Shape;193;p30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700"/>
              <a:buFont typeface="Oswald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 title="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185100" cy="1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