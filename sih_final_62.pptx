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bold.fntdata"/><Relationship Id="rId12" Type="http://schemas.openxmlformats.org/officeDocument/2006/relationships/font" Target="fonts/Garamo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boldItalic.fntdata"/><Relationship Id="rId14" Type="http://schemas.openxmlformats.org/officeDocument/2006/relationships/font" Target="fonts/Garamond-italic.fntdata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409fe86539a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409fe86539a_3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409fe86539a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409fe86539a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409fe86539a_0_6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43" name="Google Shape;143;g409fe86539a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409fe86539a_0_6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409fe86539a_3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93" name="Google Shape;193;g409fe86539a_3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409fe86539a_3_10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409fe86539a_3_1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28" name="Google Shape;228;g409fe86539a_3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409fe86539a_3_1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409fe86539a_0_13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63" name="Google Shape;263;g409fe86539a_0_1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g409fe86539a_0_138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1597821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821531"/>
            <a:ext cx="8229600" cy="37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3305177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3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7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7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1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04790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1" y="1076327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4025503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685451" y="-1406718"/>
            <a:ext cx="3773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463750" y="1371631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272750" y="-609569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ba4928a00_30_0)">
  <p:cSld name="Generated (g3fba4928a00_30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821531"/>
            <a:ext cx="8229600" cy="37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1143000" y="0"/>
            <a:ext cx="6858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4242585" y="638641"/>
            <a:ext cx="3478954" cy="3866225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4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5141168" y="1286911"/>
            <a:ext cx="2402632" cy="256967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934264" y="486461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1300"/>
              <a:buNone/>
            </a:pPr>
            <a:r>
              <a:rPr b="1" lang="en" sz="1300">
                <a:solidFill>
                  <a:srgbClr val="006699"/>
                </a:solidFill>
              </a:rPr>
              <a:t>POLARIS: Integrated Polar Expedition Operations &amp; Asset Suite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4"/>
          <p:cNvSpPr txBox="1"/>
          <p:nvPr>
            <p:ph type="ctrTitle"/>
          </p:nvPr>
        </p:nvSpPr>
        <p:spPr>
          <a:xfrm>
            <a:off x="248464" y="-395068"/>
            <a:ext cx="7772400" cy="1557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100">
                <a:solidFill>
                  <a:srgbClr val="003366"/>
                </a:solidFill>
              </a:rPr>
              <a:t>SMART INDIA HACKATHON 2026</a:t>
            </a:r>
            <a:endParaRPr b="1" sz="3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0" y="979800"/>
            <a:ext cx="5747400" cy="4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Problem Statement ID –</a:t>
            </a:r>
            <a:r>
              <a:rPr b="0" i="0" lang="en" sz="2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SIH26062</a:t>
            </a:r>
            <a:endParaRPr b="0" i="0" sz="2100" u="none" cap="none" strike="noStrike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Problem Statement Title –</a:t>
            </a:r>
            <a:r>
              <a:rPr b="0" i="0" lang="en" sz="2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20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Integrated Polar Expedition Logistics and Asset Management System</a:t>
            </a:r>
            <a:endParaRPr b="0" i="0" sz="2000" u="none" cap="none" strike="noStrike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Theme –</a:t>
            </a:r>
            <a:r>
              <a:rPr b="0" i="0" lang="en" sz="2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Smart Automation</a:t>
            </a:r>
            <a:endParaRPr b="0" i="0" sz="2100" u="none" cap="none" strike="noStrike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PS Category –</a:t>
            </a:r>
            <a:r>
              <a:rPr b="0" i="0" lang="en" sz="2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Software</a:t>
            </a:r>
            <a:endParaRPr b="0" i="0" sz="2100" u="none" cap="none" strike="noStrike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Team ID –</a:t>
            </a:r>
            <a:r>
              <a:rPr b="0" i="0" lang="en" sz="2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137578</a:t>
            </a:r>
            <a:endParaRPr b="0" i="0" sz="2100" u="none" cap="none" strike="noStrike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323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Team Name (Registered on portal) –</a:t>
            </a:r>
            <a:r>
              <a:rPr b="0" i="0" lang="en" sz="2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Dev React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9" y="1125"/>
            <a:ext cx="1687500" cy="79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86700" y="-120825"/>
            <a:ext cx="1040700" cy="1040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1345875" y="161325"/>
            <a:ext cx="5905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3366"/>
                </a:solidFill>
                <a:latin typeface="Oswald"/>
                <a:ea typeface="Oswald"/>
                <a:cs typeface="Oswald"/>
                <a:sym typeface="Oswald"/>
              </a:rPr>
              <a:t>POLARIS: Centralized Polar Expedition ERP &amp; Asset Operations Suite</a:t>
            </a:r>
            <a:endParaRPr b="1" sz="1300">
              <a:solidFill>
                <a:srgbClr val="00336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00" name="Google Shape;100;p15"/>
          <p:cNvGrpSpPr/>
          <p:nvPr/>
        </p:nvGrpSpPr>
        <p:grpSpPr>
          <a:xfrm>
            <a:off x="190500" y="762000"/>
            <a:ext cx="2809800" cy="3857700"/>
            <a:chOff x="0" y="0"/>
            <a:chExt cx="2809800" cy="3857700"/>
          </a:xfrm>
        </p:grpSpPr>
        <p:sp>
          <p:nvSpPr>
            <p:cNvPr id="101" name="Google Shape;101;p15"/>
            <p:cNvSpPr/>
            <p:nvPr/>
          </p:nvSpPr>
          <p:spPr>
            <a:xfrm>
              <a:off x="0" y="0"/>
              <a:ext cx="2809800" cy="3857700"/>
            </a:xfrm>
            <a:prstGeom prst="roundRect">
              <a:avLst>
                <a:gd fmla="val 2711" name="adj"/>
              </a:avLst>
            </a:prstGeom>
            <a:solidFill>
              <a:srgbClr val="FFFFFF"/>
            </a:solidFill>
            <a:ln cap="flat" cmpd="sng" w="14300">
              <a:solidFill>
                <a:srgbClr val="D0E0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0" y="0"/>
              <a:ext cx="2809800" cy="342900"/>
            </a:xfrm>
            <a:prstGeom prst="roundRect">
              <a:avLst>
                <a:gd fmla="val 22222" name="adj"/>
              </a:avLst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0" y="247650"/>
              <a:ext cx="2809800" cy="95400"/>
            </a:xfrm>
            <a:prstGeom prst="rect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114300" y="95250"/>
              <a:ext cx="152400" cy="152400"/>
            </a:xfrm>
            <a:custGeom>
              <a:rect b="b" l="l" r="r" t="t"/>
              <a:pathLst>
                <a:path extrusionOk="0" h="120000" w="120000">
                  <a:moveTo>
                    <a:pt x="22500" y="22500"/>
                  </a:moveTo>
                  <a:lnTo>
                    <a:pt x="97500" y="22500"/>
                  </a:lnTo>
                  <a:lnTo>
                    <a:pt x="97500" y="97500"/>
                  </a:lnTo>
                  <a:lnTo>
                    <a:pt x="22500" y="97500"/>
                  </a:lnTo>
                  <a:close/>
                  <a:moveTo>
                    <a:pt x="37500" y="37500"/>
                  </a:moveTo>
                  <a:lnTo>
                    <a:pt x="37500" y="82500"/>
                  </a:lnTo>
                  <a:lnTo>
                    <a:pt x="82500" y="82500"/>
                  </a:lnTo>
                  <a:lnTo>
                    <a:pt x="82500" y="37500"/>
                  </a:lnTo>
                  <a:close/>
                  <a:moveTo>
                    <a:pt x="0" y="52500"/>
                  </a:moveTo>
                  <a:lnTo>
                    <a:pt x="15000" y="52500"/>
                  </a:lnTo>
                  <a:lnTo>
                    <a:pt x="15000" y="67500"/>
                  </a:lnTo>
                  <a:lnTo>
                    <a:pt x="0" y="67500"/>
                  </a:lnTo>
                  <a:close/>
                  <a:moveTo>
                    <a:pt x="105000" y="52500"/>
                  </a:moveTo>
                  <a:lnTo>
                    <a:pt x="120000" y="52500"/>
                  </a:lnTo>
                  <a:lnTo>
                    <a:pt x="120000" y="67500"/>
                  </a:lnTo>
                  <a:lnTo>
                    <a:pt x="105000" y="67500"/>
                  </a:lnTo>
                  <a:close/>
                  <a:moveTo>
                    <a:pt x="45000" y="0"/>
                  </a:moveTo>
                  <a:lnTo>
                    <a:pt x="60000" y="0"/>
                  </a:lnTo>
                  <a:lnTo>
                    <a:pt x="60000" y="15000"/>
                  </a:lnTo>
                  <a:lnTo>
                    <a:pt x="45000" y="15000"/>
                  </a:lnTo>
                  <a:close/>
                  <a:moveTo>
                    <a:pt x="45000" y="105000"/>
                  </a:moveTo>
                  <a:lnTo>
                    <a:pt x="60000" y="105000"/>
                  </a:lnTo>
                  <a:lnTo>
                    <a:pt x="60000" y="120000"/>
                  </a:lnTo>
                  <a:lnTo>
                    <a:pt x="45000" y="120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 txBox="1"/>
            <p:nvPr/>
          </p:nvSpPr>
          <p:spPr>
            <a:xfrm>
              <a:off x="333375" y="95250"/>
              <a:ext cx="2333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3366"/>
                  </a:solidFill>
                  <a:latin typeface="Oswald"/>
                  <a:ea typeface="Oswald"/>
                  <a:cs typeface="Oswald"/>
                  <a:sym typeface="Oswald"/>
                </a:rPr>
                <a:t>Proposed Solution Overview</a:t>
              </a:r>
              <a:endParaRPr b="1" sz="1000">
                <a:solidFill>
                  <a:srgbClr val="003366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114300" y="457200"/>
              <a:ext cx="2581200" cy="3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Centralized Operations Hub:</a:t>
              </a:r>
              <a:endParaRPr b="1" sz="85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Connects </a:t>
              </a:r>
              <a:r>
                <a:rPr b="1" lang="en" sz="85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NCPOR Goa</a:t>
              </a:r>
              <a:r>
                <a:rPr b="0" lang="en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with Antarctic stations (</a:t>
              </a:r>
              <a:r>
                <a:rPr b="1" lang="en" sz="85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Bharati, Maitri</a:t>
              </a:r>
              <a:r>
                <a:rPr b="0" lang="en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), Arctic base (</a:t>
              </a:r>
              <a:r>
                <a:rPr b="1" lang="en" sz="85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Himadri</a:t>
              </a:r>
              <a:r>
                <a:rPr b="0" lang="en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), and icebreaker </a:t>
              </a:r>
              <a:r>
                <a:rPr b="1" lang="en" sz="85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MV Vasily Golovnin</a:t>
              </a:r>
              <a:r>
                <a:rPr b="0" lang="en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sz="8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4 Core Integration Pillars:</a:t>
              </a:r>
              <a:endParaRPr b="1" sz="85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1. Expedition Voyage Scheduling</a:t>
              </a:r>
              <a:endParaRPr b="0" sz="8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2. Cold-Chain Asset Inventory</a:t>
              </a:r>
              <a:endParaRPr b="0" sz="8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3. Personnel Safety &amp; Roster</a:t>
              </a:r>
              <a:endParaRPr b="0" sz="8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4. Blizzard Emergency Response</a:t>
              </a:r>
              <a:endParaRPr b="0" sz="8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Operational Impact:</a:t>
              </a:r>
              <a:endParaRPr b="1" sz="85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25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850"/>
                <a:buFont typeface="Calibri"/>
                <a:buChar char="●"/>
              </a:pPr>
              <a:r>
                <a:rPr b="0" lang="en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Accelerates ice-edge unloading reconciliation from </a:t>
              </a:r>
              <a:r>
                <a:rPr b="1" lang="en" sz="85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72h to &lt;6h</a:t>
              </a:r>
              <a:r>
                <a:rPr b="0" lang="en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sz="8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333333"/>
                </a:buClr>
                <a:buSzPts val="850"/>
                <a:buFont typeface="Calibri"/>
                <a:buChar char="●"/>
              </a:pPr>
              <a:r>
                <a:rPr b="0" lang="en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Prevents life-support failures during 14-month polar night overwintering cycles.</a:t>
              </a:r>
              <a:endParaRPr b="0" sz="8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5"/>
          <p:cNvGrpSpPr/>
          <p:nvPr/>
        </p:nvGrpSpPr>
        <p:grpSpPr>
          <a:xfrm>
            <a:off x="3162300" y="762000"/>
            <a:ext cx="2819400" cy="3857700"/>
            <a:chOff x="0" y="0"/>
            <a:chExt cx="2819400" cy="3857700"/>
          </a:xfrm>
        </p:grpSpPr>
        <p:sp>
          <p:nvSpPr>
            <p:cNvPr id="108" name="Google Shape;108;p15"/>
            <p:cNvSpPr/>
            <p:nvPr/>
          </p:nvSpPr>
          <p:spPr>
            <a:xfrm>
              <a:off x="0" y="0"/>
              <a:ext cx="2819400" cy="3857700"/>
            </a:xfrm>
            <a:prstGeom prst="roundRect">
              <a:avLst>
                <a:gd fmla="val 2702" name="adj"/>
              </a:avLst>
            </a:prstGeom>
            <a:solidFill>
              <a:srgbClr val="FFFFFF"/>
            </a:solidFill>
            <a:ln cap="flat" cmpd="sng" w="14300">
              <a:solidFill>
                <a:srgbClr val="D0E0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0" y="0"/>
              <a:ext cx="2819400" cy="342900"/>
            </a:xfrm>
            <a:prstGeom prst="roundRect">
              <a:avLst>
                <a:gd fmla="val 22222" name="adj"/>
              </a:avLst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0" y="247650"/>
              <a:ext cx="2819400" cy="95400"/>
            </a:xfrm>
            <a:prstGeom prst="rect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142875" y="114300"/>
              <a:ext cx="95400" cy="1239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60000" y="120000"/>
                  </a:lnTo>
                  <a:close/>
                  <a:moveTo>
                    <a:pt x="36000" y="18462"/>
                  </a:moveTo>
                  <a:lnTo>
                    <a:pt x="84000" y="18462"/>
                  </a:lnTo>
                  <a:lnTo>
                    <a:pt x="60000" y="55385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333375" y="95250"/>
              <a:ext cx="2343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3366"/>
                  </a:solidFill>
                  <a:latin typeface="Oswald"/>
                  <a:ea typeface="Oswald"/>
                  <a:cs typeface="Oswald"/>
                  <a:sym typeface="Oswald"/>
                </a:rPr>
                <a:t>Core Operational Modules</a:t>
              </a:r>
              <a:endParaRPr b="1" sz="1000">
                <a:solidFill>
                  <a:srgbClr val="003366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grpSp>
          <p:nvGrpSpPr>
            <p:cNvPr id="113" name="Google Shape;113;p15"/>
            <p:cNvGrpSpPr/>
            <p:nvPr/>
          </p:nvGrpSpPr>
          <p:grpSpPr>
            <a:xfrm>
              <a:off x="95250" y="428625"/>
              <a:ext cx="2628900" cy="781200"/>
              <a:chOff x="0" y="0"/>
              <a:chExt cx="2628900" cy="781200"/>
            </a:xfrm>
          </p:grpSpPr>
          <p:sp>
            <p:nvSpPr>
              <p:cNvPr id="114" name="Google Shape;114;p15"/>
              <p:cNvSpPr/>
              <p:nvPr/>
            </p:nvSpPr>
            <p:spPr>
              <a:xfrm>
                <a:off x="0" y="0"/>
                <a:ext cx="2628900" cy="781200"/>
              </a:xfrm>
              <a:prstGeom prst="roundRect">
                <a:avLst>
                  <a:gd fmla="val 6097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5"/>
              <p:cNvSpPr txBox="1"/>
              <p:nvPr/>
            </p:nvSpPr>
            <p:spPr>
              <a:xfrm>
                <a:off x="76200" y="57150"/>
                <a:ext cx="2476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VOYAGE PLANNER</a:t>
                </a:r>
                <a:endParaRPr b="1" sz="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Coordinates chartered vessel routes (</a:t>
                </a:r>
                <a:r>
                  <a:rPr b="1" lang="en" sz="850">
                    <a:solidFill>
                      <a:srgbClr val="00336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Goa ➜ Cape Town ➜ Ice Shelf</a:t>
                </a:r>
                <a:r>
                  <a:rPr b="0" lang="en" sz="85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), cargo payload balancing, and mission Gantt milestones.</a:t>
                </a:r>
                <a:endParaRPr b="0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" name="Google Shape;116;p15"/>
            <p:cNvGrpSpPr/>
            <p:nvPr/>
          </p:nvGrpSpPr>
          <p:grpSpPr>
            <a:xfrm>
              <a:off x="95250" y="1266825"/>
              <a:ext cx="2628900" cy="781200"/>
              <a:chOff x="0" y="0"/>
              <a:chExt cx="2628900" cy="781200"/>
            </a:xfrm>
          </p:grpSpPr>
          <p:sp>
            <p:nvSpPr>
              <p:cNvPr id="117" name="Google Shape;117;p15"/>
              <p:cNvSpPr/>
              <p:nvPr/>
            </p:nvSpPr>
            <p:spPr>
              <a:xfrm>
                <a:off x="0" y="0"/>
                <a:ext cx="2628900" cy="781200"/>
              </a:xfrm>
              <a:prstGeom prst="roundRect">
                <a:avLst>
                  <a:gd fmla="val 6097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5"/>
              <p:cNvSpPr txBox="1"/>
              <p:nvPr/>
            </p:nvSpPr>
            <p:spPr>
              <a:xfrm>
                <a:off x="76200" y="57150"/>
                <a:ext cx="2476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COLD-CHAIN ERP</a:t>
                </a:r>
                <a:endParaRPr b="1" sz="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Tracks Arctic diesel, Jet A-1 fuel, freeze-dried rations, and snowcat (PistenBully) spares with sub-zero shelf-life monitoring.</a:t>
                </a:r>
                <a:endParaRPr b="0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" name="Google Shape;119;p15"/>
            <p:cNvGrpSpPr/>
            <p:nvPr/>
          </p:nvGrpSpPr>
          <p:grpSpPr>
            <a:xfrm>
              <a:off x="95250" y="2105025"/>
              <a:ext cx="2628900" cy="781200"/>
              <a:chOff x="0" y="0"/>
              <a:chExt cx="2628900" cy="781200"/>
            </a:xfrm>
          </p:grpSpPr>
          <p:sp>
            <p:nvSpPr>
              <p:cNvPr id="120" name="Google Shape;120;p15"/>
              <p:cNvSpPr/>
              <p:nvPr/>
            </p:nvSpPr>
            <p:spPr>
              <a:xfrm>
                <a:off x="0" y="0"/>
                <a:ext cx="2628900" cy="781200"/>
              </a:xfrm>
              <a:prstGeom prst="roundRect">
                <a:avLst>
                  <a:gd fmla="val 6097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5"/>
              <p:cNvSpPr txBox="1"/>
              <p:nvPr/>
            </p:nvSpPr>
            <p:spPr>
              <a:xfrm>
                <a:off x="76200" y="57150"/>
                <a:ext cx="2476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PERSONNEL SAFETY &amp; ROSTER</a:t>
                </a:r>
                <a:endParaRPr b="1" sz="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Digital station muster rolls, field camp geofencing (Schirmacher Oasis, Larsemann Hills), and daily health clearances.</a:t>
                </a:r>
                <a:endParaRPr b="0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" name="Google Shape;122;p15"/>
            <p:cNvGrpSpPr/>
            <p:nvPr/>
          </p:nvGrpSpPr>
          <p:grpSpPr>
            <a:xfrm>
              <a:off x="95250" y="2943225"/>
              <a:ext cx="2628900" cy="781200"/>
              <a:chOff x="0" y="0"/>
              <a:chExt cx="2628900" cy="781200"/>
            </a:xfrm>
          </p:grpSpPr>
          <p:sp>
            <p:nvSpPr>
              <p:cNvPr id="123" name="Google Shape;123;p15"/>
              <p:cNvSpPr/>
              <p:nvPr/>
            </p:nvSpPr>
            <p:spPr>
              <a:xfrm>
                <a:off x="0" y="0"/>
                <a:ext cx="2628900" cy="781200"/>
              </a:xfrm>
              <a:prstGeom prst="roundRect">
                <a:avLst>
                  <a:gd fmla="val 6097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15"/>
              <p:cNvSpPr txBox="1"/>
              <p:nvPr/>
            </p:nvSpPr>
            <p:spPr>
              <a:xfrm>
                <a:off x="76200" y="57150"/>
                <a:ext cx="2476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EMERGENCY SOS &amp; HAZARD COCKPIT</a:t>
                </a:r>
                <a:endParaRPr b="1" sz="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Automated 3-tier blizzard threat tracking (Condition 1/2/3) &amp; 1-click COSPAS-SARSAT distress beacon dispatch.</a:t>
                </a:r>
                <a:endParaRPr b="0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5" name="Google Shape;125;p15"/>
          <p:cNvGrpSpPr/>
          <p:nvPr/>
        </p:nvGrpSpPr>
        <p:grpSpPr>
          <a:xfrm>
            <a:off x="6143625" y="762000"/>
            <a:ext cx="2809800" cy="3857700"/>
            <a:chOff x="0" y="0"/>
            <a:chExt cx="2809800" cy="3857700"/>
          </a:xfrm>
        </p:grpSpPr>
        <p:sp>
          <p:nvSpPr>
            <p:cNvPr id="126" name="Google Shape;126;p15"/>
            <p:cNvSpPr/>
            <p:nvPr/>
          </p:nvSpPr>
          <p:spPr>
            <a:xfrm>
              <a:off x="0" y="0"/>
              <a:ext cx="2809800" cy="3857700"/>
            </a:xfrm>
            <a:prstGeom prst="roundRect">
              <a:avLst>
                <a:gd fmla="val 2711" name="adj"/>
              </a:avLst>
            </a:prstGeom>
            <a:solidFill>
              <a:srgbClr val="FFFFFF"/>
            </a:solidFill>
            <a:ln cap="flat" cmpd="sng" w="14300">
              <a:solidFill>
                <a:srgbClr val="D0E0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0" y="0"/>
              <a:ext cx="2809800" cy="342900"/>
            </a:xfrm>
            <a:prstGeom prst="roundRect">
              <a:avLst>
                <a:gd fmla="val 22222" name="adj"/>
              </a:avLst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0" y="247650"/>
              <a:ext cx="2809800" cy="95400"/>
            </a:xfrm>
            <a:prstGeom prst="rect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95250" y="952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78000" y="42000"/>
                  </a:lnTo>
                  <a:lnTo>
                    <a:pt x="120000" y="48000"/>
                  </a:lnTo>
                  <a:lnTo>
                    <a:pt x="90000" y="78000"/>
                  </a:lnTo>
                  <a:lnTo>
                    <a:pt x="96000" y="120000"/>
                  </a:lnTo>
                  <a:lnTo>
                    <a:pt x="60000" y="96000"/>
                  </a:lnTo>
                  <a:lnTo>
                    <a:pt x="24000" y="120000"/>
                  </a:lnTo>
                  <a:lnTo>
                    <a:pt x="30000" y="78000"/>
                  </a:lnTo>
                  <a:lnTo>
                    <a:pt x="0" y="48000"/>
                  </a:lnTo>
                  <a:lnTo>
                    <a:pt x="42000" y="42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5"/>
            <p:cNvSpPr txBox="1"/>
            <p:nvPr/>
          </p:nvSpPr>
          <p:spPr>
            <a:xfrm>
              <a:off x="333375" y="95250"/>
              <a:ext cx="2333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3366"/>
                  </a:solidFill>
                  <a:latin typeface="Oswald"/>
                  <a:ea typeface="Oswald"/>
                  <a:cs typeface="Oswald"/>
                  <a:sym typeface="Oswald"/>
                </a:rPr>
                <a:t>Key Uniqueness &amp; Impact</a:t>
              </a:r>
              <a:endParaRPr b="1" sz="1000">
                <a:solidFill>
                  <a:srgbClr val="003366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grpSp>
          <p:nvGrpSpPr>
            <p:cNvPr id="131" name="Google Shape;131;p15"/>
            <p:cNvGrpSpPr/>
            <p:nvPr/>
          </p:nvGrpSpPr>
          <p:grpSpPr>
            <a:xfrm>
              <a:off x="114300" y="457200"/>
              <a:ext cx="2581200" cy="1543200"/>
              <a:chOff x="0" y="0"/>
              <a:chExt cx="2581200" cy="1543200"/>
            </a:xfrm>
          </p:grpSpPr>
          <p:sp>
            <p:nvSpPr>
              <p:cNvPr id="132" name="Google Shape;132;p15"/>
              <p:cNvSpPr/>
              <p:nvPr/>
            </p:nvSpPr>
            <p:spPr>
              <a:xfrm>
                <a:off x="0" y="0"/>
                <a:ext cx="2581200" cy="1543200"/>
              </a:xfrm>
              <a:prstGeom prst="roundRect">
                <a:avLst>
                  <a:gd fmla="val 3703" name="adj"/>
                </a:avLst>
              </a:prstGeom>
              <a:solidFill>
                <a:srgbClr val="F3F7FA"/>
              </a:solidFill>
              <a:ln cap="flat" cmpd="sng" w="9525">
                <a:solidFill>
                  <a:srgbClr val="BCE0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5"/>
              <p:cNvSpPr/>
              <p:nvPr/>
            </p:nvSpPr>
            <p:spPr>
              <a:xfrm>
                <a:off x="114300" y="171450"/>
                <a:ext cx="152400" cy="1524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2500" y="0"/>
                      <a:pt x="0" y="30000"/>
                      <a:pt x="0" y="60000"/>
                    </a:cubicBezTo>
                    <a:cubicBezTo>
                      <a:pt x="0" y="90000"/>
                      <a:pt x="22500" y="120000"/>
                      <a:pt x="60000" y="120000"/>
                    </a:cubicBezTo>
                    <a:cubicBezTo>
                      <a:pt x="97500" y="120000"/>
                      <a:pt x="120000" y="90000"/>
                      <a:pt x="120000" y="60000"/>
                    </a:cubicBez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0070C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>
                <a:off x="161925" y="219075"/>
                <a:ext cx="57300" cy="573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15"/>
              <p:cNvSpPr txBox="1"/>
              <p:nvPr/>
            </p:nvSpPr>
            <p:spPr>
              <a:xfrm>
                <a:off x="114300" y="0"/>
                <a:ext cx="2352600" cy="142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100% Offline-First Resilience</a:t>
                </a:r>
                <a:endParaRPr b="1" sz="95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28257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333333"/>
                  </a:buClr>
                  <a:buSzPts val="850"/>
                  <a:buFont typeface="Calibri"/>
                  <a:buChar char="●"/>
                </a:pPr>
                <a:r>
                  <a:rPr b="0" lang="en" sz="85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Operates completely offline during polar satellite dropouts.</a:t>
                </a:r>
                <a:endParaRPr b="0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282575" lvl="0" marL="457200" rtl="0" algn="l">
                  <a:spcBef>
                    <a:spcPts val="150"/>
                  </a:spcBef>
                  <a:spcAft>
                    <a:spcPts val="0"/>
                  </a:spcAft>
                  <a:buClr>
                    <a:srgbClr val="333333"/>
                  </a:buClr>
                  <a:buSzPts val="850"/>
                  <a:buFont typeface="Calibri"/>
                  <a:buChar char="●"/>
                </a:pPr>
                <a:r>
                  <a:rPr b="0" lang="en" sz="85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Uses local-first architecture to persist state seamlessly.</a:t>
                </a:r>
                <a:endParaRPr b="0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282575" lvl="0" marL="457200" rtl="0" algn="l">
                  <a:spcBef>
                    <a:spcPts val="150"/>
                  </a:spcBef>
                  <a:spcAft>
                    <a:spcPts val="150"/>
                  </a:spcAft>
                  <a:buClr>
                    <a:srgbClr val="333333"/>
                  </a:buClr>
                  <a:buSzPts val="850"/>
                  <a:buFont typeface="Calibri"/>
                  <a:buChar char="●"/>
                </a:pPr>
                <a:r>
                  <a:rPr b="0" lang="en" sz="85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Auto-merges conflict-free when satellite links flicker back on.</a:t>
                </a:r>
                <a:endParaRPr b="0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" name="Google Shape;136;p15"/>
            <p:cNvGrpSpPr/>
            <p:nvPr/>
          </p:nvGrpSpPr>
          <p:grpSpPr>
            <a:xfrm>
              <a:off x="114300" y="2114550"/>
              <a:ext cx="2581200" cy="1543200"/>
              <a:chOff x="0" y="0"/>
              <a:chExt cx="2581200" cy="1543200"/>
            </a:xfrm>
          </p:grpSpPr>
          <p:sp>
            <p:nvSpPr>
              <p:cNvPr id="137" name="Google Shape;137;p15"/>
              <p:cNvSpPr/>
              <p:nvPr/>
            </p:nvSpPr>
            <p:spPr>
              <a:xfrm>
                <a:off x="0" y="0"/>
                <a:ext cx="2581200" cy="1543200"/>
              </a:xfrm>
              <a:prstGeom prst="roundRect">
                <a:avLst>
                  <a:gd fmla="val 3703" name="adj"/>
                </a:avLst>
              </a:prstGeom>
              <a:solidFill>
                <a:srgbClr val="F3F7FA"/>
              </a:solidFill>
              <a:ln cap="flat" cmpd="sng" w="9525">
                <a:solidFill>
                  <a:srgbClr val="BCE0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5"/>
              <p:cNvSpPr txBox="1"/>
              <p:nvPr/>
            </p:nvSpPr>
            <p:spPr>
              <a:xfrm>
                <a:off x="114300" y="114300"/>
                <a:ext cx="2352600" cy="131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Predictive Burn-Rate Modeling</a:t>
                </a:r>
                <a:endParaRPr b="1" sz="95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28257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333333"/>
                  </a:buClr>
                  <a:buSzPts val="850"/>
                  <a:buFont typeface="Calibri"/>
                  <a:buChar char="●"/>
                </a:pPr>
                <a:r>
                  <a:rPr b="0" lang="en" sz="85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Correlates ambient sub-zero temperatures (-40°C) with active headcount.</a:t>
                </a:r>
                <a:endParaRPr b="0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282575" lvl="0" marL="457200" rtl="0" algn="l">
                  <a:spcBef>
                    <a:spcPts val="150"/>
                  </a:spcBef>
                  <a:spcAft>
                    <a:spcPts val="0"/>
                  </a:spcAft>
                  <a:buClr>
                    <a:srgbClr val="333333"/>
                  </a:buClr>
                  <a:buSzPts val="850"/>
                  <a:buFont typeface="Calibri"/>
                  <a:buChar char="●"/>
                </a:pPr>
                <a:r>
                  <a:rPr b="0" lang="en" sz="85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Predicts critical resource &amp; fuel exhaustion months in advance.</a:t>
                </a:r>
                <a:endParaRPr b="0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282575" lvl="0" marL="457200" rtl="0" algn="l">
                  <a:spcBef>
                    <a:spcPts val="150"/>
                  </a:spcBef>
                  <a:spcAft>
                    <a:spcPts val="150"/>
                  </a:spcAft>
                  <a:buClr>
                    <a:srgbClr val="333333"/>
                  </a:buClr>
                  <a:buSzPts val="850"/>
                  <a:buFont typeface="Calibri"/>
                  <a:buChar char="●"/>
                </a:pPr>
                <a:r>
                  <a:rPr b="0" lang="en" sz="85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Ensures uninterrupted station life support.</a:t>
                </a:r>
                <a:endParaRPr b="0" sz="8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9" name="Google Shape;139;p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428750" y="4876800"/>
            <a:ext cx="6286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SIH 2026 Idea Submission | PS: SIH26062 | MoES / NCPOR</a:t>
            </a:r>
            <a:endParaRPr b="0" sz="7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/>
          <p:nvPr/>
        </p:nvSpPr>
        <p:spPr>
          <a:xfrm>
            <a:off x="0" y="4766072"/>
            <a:ext cx="9144000" cy="3774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400">
                <a:solidFill>
                  <a:srgbClr val="003366"/>
                </a:solidFill>
              </a:rPr>
              <a:t>TECHNICAL APPROACH &amp; SYSTEM ARCHITECTURE</a:t>
            </a:r>
            <a:endParaRPr/>
          </a:p>
        </p:txBody>
      </p:sp>
      <p:grpSp>
        <p:nvGrpSpPr>
          <p:cNvPr id="148" name="Google Shape;148;p16"/>
          <p:cNvGrpSpPr/>
          <p:nvPr/>
        </p:nvGrpSpPr>
        <p:grpSpPr>
          <a:xfrm>
            <a:off x="381000" y="904875"/>
            <a:ext cx="8382000" cy="3667125"/>
            <a:chOff x="0" y="0"/>
            <a:chExt cx="8382000" cy="3667125"/>
          </a:xfrm>
        </p:grpSpPr>
        <p:grpSp>
          <p:nvGrpSpPr>
            <p:cNvPr id="149" name="Google Shape;149;p16"/>
            <p:cNvGrpSpPr/>
            <p:nvPr/>
          </p:nvGrpSpPr>
          <p:grpSpPr>
            <a:xfrm>
              <a:off x="0" y="0"/>
              <a:ext cx="2476500" cy="2571900"/>
              <a:chOff x="0" y="0"/>
              <a:chExt cx="2476500" cy="2571900"/>
            </a:xfrm>
          </p:grpSpPr>
          <p:sp>
            <p:nvSpPr>
              <p:cNvPr id="150" name="Google Shape;150;p16"/>
              <p:cNvSpPr/>
              <p:nvPr/>
            </p:nvSpPr>
            <p:spPr>
              <a:xfrm>
                <a:off x="0" y="0"/>
                <a:ext cx="2476500" cy="2571900"/>
              </a:xfrm>
              <a:prstGeom prst="roundRect">
                <a:avLst>
                  <a:gd fmla="val 307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0070C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6"/>
              <p:cNvSpPr/>
              <p:nvPr/>
            </p:nvSpPr>
            <p:spPr>
              <a:xfrm>
                <a:off x="0" y="0"/>
                <a:ext cx="24765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E6F0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6"/>
              <p:cNvSpPr/>
              <p:nvPr/>
            </p:nvSpPr>
            <p:spPr>
              <a:xfrm>
                <a:off x="0" y="238125"/>
                <a:ext cx="2476500" cy="142800"/>
              </a:xfrm>
              <a:prstGeom prst="rect">
                <a:avLst/>
              </a:prstGeom>
              <a:solidFill>
                <a:srgbClr val="E6F0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6"/>
              <p:cNvSpPr txBox="1"/>
              <p:nvPr/>
            </p:nvSpPr>
            <p:spPr>
              <a:xfrm>
                <a:off x="142875" y="76200"/>
                <a:ext cx="21909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03366"/>
                    </a:solidFill>
                    <a:latin typeface="Oswald"/>
                    <a:ea typeface="Oswald"/>
                    <a:cs typeface="Oswald"/>
                    <a:sym typeface="Oswald"/>
                  </a:rPr>
                  <a:t>STAGE 1: DATA INGESTION</a:t>
                </a:r>
                <a:endParaRPr b="1" sz="1100">
                  <a:solidFill>
                    <a:srgbClr val="003366"/>
                  </a:solidFill>
                  <a:latin typeface="Oswald"/>
                  <a:ea typeface="Oswald"/>
                  <a:cs typeface="Oswald"/>
                  <a:sym typeface="Oswald"/>
                </a:endParaRPr>
              </a:p>
            </p:txBody>
          </p:sp>
          <p:sp>
            <p:nvSpPr>
              <p:cNvPr id="154" name="Google Shape;154;p16"/>
              <p:cNvSpPr txBox="1"/>
              <p:nvPr/>
            </p:nvSpPr>
            <p:spPr>
              <a:xfrm>
                <a:off x="142875" y="457200"/>
                <a:ext cx="21909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Edge Sensing &amp; Capture</a:t>
                </a:r>
                <a:endParaRPr b="1" sz="10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2921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333333"/>
                  </a:buClr>
                  <a:buSzPts val="1000"/>
                  <a:buFont typeface="Calibri"/>
                  <a:buChar char="●"/>
                </a:pPr>
                <a:r>
                  <a:rPr lang="en" sz="10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IoT RFID &amp; Cargo Tags</a:t>
                </a:r>
                <a:endParaRPr sz="10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29210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333333"/>
                  </a:buClr>
                  <a:buSzPts val="1000"/>
                  <a:buFont typeface="Calibri"/>
                  <a:buChar char="●"/>
                </a:pPr>
                <a:r>
                  <a:rPr lang="en" sz="10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Station Telemetry Feeds</a:t>
                </a:r>
                <a:endParaRPr sz="10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29210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333333"/>
                  </a:buClr>
                  <a:buSzPts val="1000"/>
                  <a:buFont typeface="Calibri"/>
                  <a:buChar char="●"/>
                </a:pPr>
                <a:r>
                  <a:rPr lang="en" sz="10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Satellite Drop-link Telemetry</a:t>
                </a:r>
                <a:endParaRPr sz="10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292100" lvl="0" marL="457200" rtl="0" algn="l">
                  <a:spcBef>
                    <a:spcPts val="450"/>
                  </a:spcBef>
                  <a:spcAft>
                    <a:spcPts val="450"/>
                  </a:spcAft>
                  <a:buClr>
                    <a:srgbClr val="333333"/>
                  </a:buClr>
                  <a:buSzPts val="1000"/>
                  <a:buFont typeface="Calibri"/>
                  <a:buChar char="●"/>
                </a:pPr>
                <a:r>
                  <a:rPr lang="en" sz="10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Local Edge Field Capture (&lt;5ms IndexedDB persist)</a:t>
                </a:r>
                <a:endParaRPr sz="10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5" name="Google Shape;155;p16"/>
            <p:cNvSpPr/>
            <p:nvPr/>
          </p:nvSpPr>
          <p:spPr>
            <a:xfrm>
              <a:off x="2552700" y="1181100"/>
              <a:ext cx="171600" cy="1143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06667" y="6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6" name="Google Shape;156;p16"/>
            <p:cNvGrpSpPr/>
            <p:nvPr/>
          </p:nvGrpSpPr>
          <p:grpSpPr>
            <a:xfrm>
              <a:off x="2809875" y="0"/>
              <a:ext cx="2762400" cy="2571900"/>
              <a:chOff x="0" y="0"/>
              <a:chExt cx="2762400" cy="2571900"/>
            </a:xfrm>
          </p:grpSpPr>
          <p:sp>
            <p:nvSpPr>
              <p:cNvPr id="157" name="Google Shape;157;p16"/>
              <p:cNvSpPr/>
              <p:nvPr/>
            </p:nvSpPr>
            <p:spPr>
              <a:xfrm>
                <a:off x="0" y="0"/>
                <a:ext cx="2762400" cy="2571900"/>
              </a:xfrm>
              <a:prstGeom prst="roundRect">
                <a:avLst>
                  <a:gd fmla="val 2962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0070C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6"/>
              <p:cNvSpPr/>
              <p:nvPr/>
            </p:nvSpPr>
            <p:spPr>
              <a:xfrm>
                <a:off x="0" y="0"/>
                <a:ext cx="27624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6"/>
              <p:cNvSpPr/>
              <p:nvPr/>
            </p:nvSpPr>
            <p:spPr>
              <a:xfrm>
                <a:off x="0" y="238125"/>
                <a:ext cx="2762400" cy="142800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6"/>
              <p:cNvSpPr txBox="1"/>
              <p:nvPr/>
            </p:nvSpPr>
            <p:spPr>
              <a:xfrm>
                <a:off x="142875" y="76200"/>
                <a:ext cx="24765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Oswald"/>
                    <a:ea typeface="Oswald"/>
                    <a:cs typeface="Oswald"/>
                    <a:sym typeface="Oswald"/>
                  </a:rPr>
                  <a:t>STAGE 2: POLARIS ENGINE</a:t>
                </a:r>
                <a:endParaRPr b="1" sz="11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endParaRPr>
              </a:p>
            </p:txBody>
          </p:sp>
          <p:sp>
            <p:nvSpPr>
              <p:cNvPr id="161" name="Google Shape;161;p16"/>
              <p:cNvSpPr txBox="1"/>
              <p:nvPr/>
            </p:nvSpPr>
            <p:spPr>
              <a:xfrm>
                <a:off x="142875" y="457200"/>
                <a:ext cx="24765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Local-First Core (Offline Sync)</a:t>
                </a:r>
                <a:endParaRPr b="1" sz="10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2921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333333"/>
                  </a:buClr>
                  <a:buSzPts val="1000"/>
                  <a:buFont typeface="Calibri"/>
                  <a:buChar char="●"/>
                </a:pPr>
                <a:r>
                  <a:rPr lang="en" sz="10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IndexedDB 100% Offline Cache</a:t>
                </a:r>
                <a:endParaRPr sz="10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29210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333333"/>
                  </a:buClr>
                  <a:buSzPts val="1000"/>
                  <a:buFont typeface="Calibri"/>
                  <a:buChar char="●"/>
                </a:pPr>
                <a:r>
                  <a:rPr lang="en" sz="10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CRDT Conflict-Free Replicated State</a:t>
                </a:r>
                <a:endParaRPr sz="10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29210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333333"/>
                  </a:buClr>
                  <a:buSzPts val="1000"/>
                  <a:buFont typeface="Calibri"/>
                  <a:buChar char="●"/>
                </a:pPr>
                <a:r>
                  <a:rPr lang="en" sz="10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Store-and-Forward Sync Queue</a:t>
                </a:r>
                <a:endParaRPr sz="10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292100" lvl="0" marL="457200" rtl="0" algn="l">
                  <a:spcBef>
                    <a:spcPts val="450"/>
                  </a:spcBef>
                  <a:spcAft>
                    <a:spcPts val="450"/>
                  </a:spcAft>
                  <a:buClr>
                    <a:srgbClr val="333333"/>
                  </a:buClr>
                  <a:buSzPts val="1000"/>
                  <a:buFont typeface="Calibri"/>
                  <a:buChar char="●"/>
                </a:pPr>
                <a:r>
                  <a:rPr lang="en" sz="10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FastAPI &amp; SQLite Station Edge</a:t>
                </a:r>
                <a:endParaRPr sz="10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2" name="Google Shape;162;p16"/>
            <p:cNvSpPr/>
            <p:nvPr/>
          </p:nvSpPr>
          <p:spPr>
            <a:xfrm>
              <a:off x="5648325" y="1181100"/>
              <a:ext cx="171600" cy="1143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06667" y="6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3" name="Google Shape;163;p16"/>
            <p:cNvGrpSpPr/>
            <p:nvPr/>
          </p:nvGrpSpPr>
          <p:grpSpPr>
            <a:xfrm>
              <a:off x="5905500" y="0"/>
              <a:ext cx="2476500" cy="2571900"/>
              <a:chOff x="0" y="0"/>
              <a:chExt cx="2476500" cy="2571900"/>
            </a:xfrm>
          </p:grpSpPr>
          <p:sp>
            <p:nvSpPr>
              <p:cNvPr id="164" name="Google Shape;164;p16"/>
              <p:cNvSpPr/>
              <p:nvPr/>
            </p:nvSpPr>
            <p:spPr>
              <a:xfrm>
                <a:off x="0" y="0"/>
                <a:ext cx="2476500" cy="2571900"/>
              </a:xfrm>
              <a:prstGeom prst="roundRect">
                <a:avLst>
                  <a:gd fmla="val 307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0070C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6"/>
              <p:cNvSpPr/>
              <p:nvPr/>
            </p:nvSpPr>
            <p:spPr>
              <a:xfrm>
                <a:off x="0" y="0"/>
                <a:ext cx="24765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E6F0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6"/>
              <p:cNvSpPr/>
              <p:nvPr/>
            </p:nvSpPr>
            <p:spPr>
              <a:xfrm>
                <a:off x="0" y="238125"/>
                <a:ext cx="2476500" cy="142800"/>
              </a:xfrm>
              <a:prstGeom prst="rect">
                <a:avLst/>
              </a:prstGeom>
              <a:solidFill>
                <a:srgbClr val="E6F0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6"/>
              <p:cNvSpPr txBox="1"/>
              <p:nvPr/>
            </p:nvSpPr>
            <p:spPr>
              <a:xfrm>
                <a:off x="142875" y="76200"/>
                <a:ext cx="21909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03366"/>
                    </a:solidFill>
                    <a:latin typeface="Oswald"/>
                    <a:ea typeface="Oswald"/>
                    <a:cs typeface="Oswald"/>
                    <a:sym typeface="Oswald"/>
                  </a:rPr>
                  <a:t>STAGE 3: COMMAND &amp; CONTROL</a:t>
                </a:r>
                <a:endParaRPr b="1" sz="1100">
                  <a:solidFill>
                    <a:srgbClr val="003366"/>
                  </a:solidFill>
                  <a:latin typeface="Oswald"/>
                  <a:ea typeface="Oswald"/>
                  <a:cs typeface="Oswald"/>
                  <a:sym typeface="Oswald"/>
                </a:endParaRPr>
              </a:p>
            </p:txBody>
          </p:sp>
          <p:sp>
            <p:nvSpPr>
              <p:cNvPr id="168" name="Google Shape;168;p16"/>
              <p:cNvSpPr txBox="1"/>
              <p:nvPr/>
            </p:nvSpPr>
            <p:spPr>
              <a:xfrm>
                <a:off x="142875" y="457200"/>
                <a:ext cx="21909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Operational Analytics</a:t>
                </a:r>
                <a:endParaRPr b="1" sz="10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2921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333333"/>
                  </a:buClr>
                  <a:buSzPts val="1000"/>
                  <a:buFont typeface="Calibri"/>
                  <a:buChar char="●"/>
                </a:pPr>
                <a:r>
                  <a:rPr lang="en" sz="10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Predictive Fuel &amp; Burn-Rate ML</a:t>
                </a:r>
                <a:endParaRPr sz="10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29210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333333"/>
                  </a:buClr>
                  <a:buSzPts val="1000"/>
                  <a:buFont typeface="Calibri"/>
                  <a:buChar char="●"/>
                </a:pPr>
                <a:r>
                  <a:rPr lang="en" sz="10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Vessel Voyage Dispatch &amp; Route</a:t>
                </a:r>
                <a:endParaRPr sz="10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29210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333333"/>
                  </a:buClr>
                  <a:buSzPts val="1000"/>
                  <a:buFont typeface="Calibri"/>
                  <a:buChar char="●"/>
                </a:pPr>
                <a:r>
                  <a:rPr lang="en" sz="10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COSPAS-SARSAT SOS Beacon</a:t>
                </a:r>
                <a:endParaRPr sz="10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292100" lvl="0" marL="457200" rtl="0" algn="l">
                  <a:spcBef>
                    <a:spcPts val="450"/>
                  </a:spcBef>
                  <a:spcAft>
                    <a:spcPts val="450"/>
                  </a:spcAft>
                  <a:buClr>
                    <a:srgbClr val="333333"/>
                  </a:buClr>
                  <a:buSzPts val="1000"/>
                  <a:buFont typeface="Calibri"/>
                  <a:buChar char="●"/>
                </a:pPr>
                <a:r>
                  <a:rPr lang="en" sz="10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Hazard Indexing &amp; Lockout Rules</a:t>
                </a:r>
                <a:endParaRPr sz="10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" name="Google Shape;169;p16"/>
            <p:cNvGrpSpPr/>
            <p:nvPr/>
          </p:nvGrpSpPr>
          <p:grpSpPr>
            <a:xfrm>
              <a:off x="0" y="2714625"/>
              <a:ext cx="8382000" cy="952500"/>
              <a:chOff x="0" y="0"/>
              <a:chExt cx="8382000" cy="952500"/>
            </a:xfrm>
          </p:grpSpPr>
          <p:sp>
            <p:nvSpPr>
              <p:cNvPr id="170" name="Google Shape;170;p16"/>
              <p:cNvSpPr/>
              <p:nvPr/>
            </p:nvSpPr>
            <p:spPr>
              <a:xfrm>
                <a:off x="0" y="0"/>
                <a:ext cx="83820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F4F7FA"/>
              </a:solidFill>
              <a:ln cap="flat" cmpd="sng" w="9525">
                <a:solidFill>
                  <a:srgbClr val="D0E0E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6"/>
              <p:cNvSpPr txBox="1"/>
              <p:nvPr/>
            </p:nvSpPr>
            <p:spPr>
              <a:xfrm>
                <a:off x="142875" y="95250"/>
                <a:ext cx="80964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3366"/>
                    </a:solidFill>
                    <a:latin typeface="Oswald"/>
                    <a:ea typeface="Oswald"/>
                    <a:cs typeface="Oswald"/>
                    <a:sym typeface="Oswald"/>
                  </a:rPr>
                  <a:t>CORE TECH STACK &amp; FRAMEWORKS</a:t>
                </a:r>
                <a:endParaRPr b="1" sz="1000">
                  <a:solidFill>
                    <a:srgbClr val="003366"/>
                  </a:solidFill>
                  <a:latin typeface="Oswald"/>
                  <a:ea typeface="Oswald"/>
                  <a:cs typeface="Oswald"/>
                  <a:sym typeface="Oswald"/>
                </a:endParaRPr>
              </a:p>
            </p:txBody>
          </p:sp>
          <p:grpSp>
            <p:nvGrpSpPr>
              <p:cNvPr id="172" name="Google Shape;172;p16"/>
              <p:cNvGrpSpPr/>
              <p:nvPr/>
            </p:nvGrpSpPr>
            <p:grpSpPr>
              <a:xfrm>
                <a:off x="142875" y="361950"/>
                <a:ext cx="1524000" cy="457200"/>
                <a:chOff x="0" y="0"/>
                <a:chExt cx="1524000" cy="457200"/>
              </a:xfrm>
            </p:grpSpPr>
            <p:sp>
              <p:nvSpPr>
                <p:cNvPr id="173" name="Google Shape;173;p16"/>
                <p:cNvSpPr/>
                <p:nvPr/>
              </p:nvSpPr>
              <p:spPr>
                <a:xfrm>
                  <a:off x="0" y="0"/>
                  <a:ext cx="1524000" cy="4572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CBD5E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" name="Google Shape;174;p16"/>
                <p:cNvSpPr txBox="1"/>
                <p:nvPr/>
              </p:nvSpPr>
              <p:spPr>
                <a:xfrm>
                  <a:off x="0" y="0"/>
                  <a:ext cx="15240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>
                      <a:solidFill>
                        <a:srgbClr val="0070C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React 18</a:t>
                  </a:r>
                  <a:endParaRPr b="1" sz="100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850">
                      <a:solidFill>
                        <a:srgbClr val="66666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PWA UI Framework</a:t>
                  </a:r>
                  <a:endParaRPr b="0" sz="850">
                    <a:solidFill>
                      <a:srgbClr val="66666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5" name="Google Shape;175;p16"/>
              <p:cNvGrpSpPr/>
              <p:nvPr/>
            </p:nvGrpSpPr>
            <p:grpSpPr>
              <a:xfrm>
                <a:off x="1781175" y="361950"/>
                <a:ext cx="1524000" cy="457200"/>
                <a:chOff x="0" y="0"/>
                <a:chExt cx="1524000" cy="457200"/>
              </a:xfrm>
            </p:grpSpPr>
            <p:sp>
              <p:nvSpPr>
                <p:cNvPr id="176" name="Google Shape;176;p16"/>
                <p:cNvSpPr/>
                <p:nvPr/>
              </p:nvSpPr>
              <p:spPr>
                <a:xfrm>
                  <a:off x="0" y="0"/>
                  <a:ext cx="1524000" cy="4572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CBD5E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" name="Google Shape;177;p16"/>
                <p:cNvSpPr txBox="1"/>
                <p:nvPr/>
              </p:nvSpPr>
              <p:spPr>
                <a:xfrm>
                  <a:off x="0" y="0"/>
                  <a:ext cx="15240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>
                      <a:solidFill>
                        <a:srgbClr val="0070C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Vite</a:t>
                  </a:r>
                  <a:endParaRPr b="1" sz="100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850">
                      <a:solidFill>
                        <a:srgbClr val="66666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Ultra-fast Build Engine</a:t>
                  </a:r>
                  <a:endParaRPr b="0" sz="850">
                    <a:solidFill>
                      <a:srgbClr val="66666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8" name="Google Shape;178;p16"/>
              <p:cNvGrpSpPr/>
              <p:nvPr/>
            </p:nvGrpSpPr>
            <p:grpSpPr>
              <a:xfrm>
                <a:off x="3429000" y="361950"/>
                <a:ext cx="1524000" cy="457200"/>
                <a:chOff x="0" y="0"/>
                <a:chExt cx="1524000" cy="457200"/>
              </a:xfrm>
            </p:grpSpPr>
            <p:sp>
              <p:nvSpPr>
                <p:cNvPr id="179" name="Google Shape;179;p16"/>
                <p:cNvSpPr/>
                <p:nvPr/>
              </p:nvSpPr>
              <p:spPr>
                <a:xfrm>
                  <a:off x="0" y="0"/>
                  <a:ext cx="1524000" cy="4572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CBD5E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" name="Google Shape;180;p16"/>
                <p:cNvSpPr txBox="1"/>
                <p:nvPr/>
              </p:nvSpPr>
              <p:spPr>
                <a:xfrm>
                  <a:off x="0" y="0"/>
                  <a:ext cx="15240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>
                      <a:solidFill>
                        <a:srgbClr val="0070C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Python (FastAPI)</a:t>
                  </a:r>
                  <a:endParaRPr b="1" sz="100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850">
                      <a:solidFill>
                        <a:srgbClr val="66666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Backend &amp; Scikit-Learn ML</a:t>
                  </a:r>
                  <a:endParaRPr b="0" sz="850">
                    <a:solidFill>
                      <a:srgbClr val="66666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1" name="Google Shape;181;p16"/>
              <p:cNvGrpSpPr/>
              <p:nvPr/>
            </p:nvGrpSpPr>
            <p:grpSpPr>
              <a:xfrm>
                <a:off x="5067300" y="361950"/>
                <a:ext cx="1524000" cy="457200"/>
                <a:chOff x="0" y="0"/>
                <a:chExt cx="1524000" cy="457200"/>
              </a:xfrm>
            </p:grpSpPr>
            <p:sp>
              <p:nvSpPr>
                <p:cNvPr id="182" name="Google Shape;182;p16"/>
                <p:cNvSpPr/>
                <p:nvPr/>
              </p:nvSpPr>
              <p:spPr>
                <a:xfrm>
                  <a:off x="0" y="0"/>
                  <a:ext cx="1524000" cy="4572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CBD5E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" name="Google Shape;183;p16"/>
                <p:cNvSpPr txBox="1"/>
                <p:nvPr/>
              </p:nvSpPr>
              <p:spPr>
                <a:xfrm>
                  <a:off x="0" y="0"/>
                  <a:ext cx="15240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>
                      <a:solidFill>
                        <a:srgbClr val="0070C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Tailwind CSS</a:t>
                  </a:r>
                  <a:endParaRPr b="1" sz="100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850">
                      <a:solidFill>
                        <a:srgbClr val="66666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Responsive Styling</a:t>
                  </a:r>
                  <a:endParaRPr b="0" sz="850">
                    <a:solidFill>
                      <a:srgbClr val="66666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4" name="Google Shape;184;p16"/>
              <p:cNvGrpSpPr/>
              <p:nvPr/>
            </p:nvGrpSpPr>
            <p:grpSpPr>
              <a:xfrm>
                <a:off x="6715125" y="361950"/>
                <a:ext cx="1524000" cy="457200"/>
                <a:chOff x="0" y="0"/>
                <a:chExt cx="1524000" cy="457200"/>
              </a:xfrm>
            </p:grpSpPr>
            <p:sp>
              <p:nvSpPr>
                <p:cNvPr id="185" name="Google Shape;185;p16"/>
                <p:cNvSpPr/>
                <p:nvPr/>
              </p:nvSpPr>
              <p:spPr>
                <a:xfrm>
                  <a:off x="0" y="0"/>
                  <a:ext cx="1524000" cy="4572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CBD5E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" name="Google Shape;186;p16"/>
                <p:cNvSpPr txBox="1"/>
                <p:nvPr/>
              </p:nvSpPr>
              <p:spPr>
                <a:xfrm>
                  <a:off x="0" y="0"/>
                  <a:ext cx="15240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>
                      <a:solidFill>
                        <a:srgbClr val="0070C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Web Crypto API</a:t>
                  </a:r>
                  <a:endParaRPr b="1" sz="100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850">
                      <a:solidFill>
                        <a:srgbClr val="66666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Encrypted Edge Sync</a:t>
                  </a:r>
                  <a:endParaRPr b="0" sz="850">
                    <a:solidFill>
                      <a:srgbClr val="66666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87" name="Google Shape;187;p16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1" lang="en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88" name="Google Shape;188;p16"/>
          <p:cNvSpPr txBox="1"/>
          <p:nvPr>
            <p:ph idx="11" type="ftr"/>
          </p:nvPr>
        </p:nvSpPr>
        <p:spPr>
          <a:xfrm>
            <a:off x="3486150" y="4767265"/>
            <a:ext cx="240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700">
                <a:solidFill>
                  <a:srgbClr val="6E6E6E"/>
                </a:solidFill>
              </a:rPr>
              <a:t>SIH 2026 Idea Submission | PS: SIH26062 | MoES / NCPOR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89" name="Google Shape;1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5" y="1125"/>
            <a:ext cx="1687388" cy="796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6" title="icon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5725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/>
          <p:nvPr/>
        </p:nvSpPr>
        <p:spPr>
          <a:xfrm>
            <a:off x="0" y="4766072"/>
            <a:ext cx="9144000" cy="3774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 txBox="1"/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400">
                <a:solidFill>
                  <a:srgbClr val="003366"/>
                </a:solidFill>
              </a:rPr>
              <a:t>FEASIBILITY ANALYSIS &amp; POLAR RISK MITIGATION</a:t>
            </a:r>
            <a:endParaRPr/>
          </a:p>
        </p:txBody>
      </p:sp>
      <p:grpSp>
        <p:nvGrpSpPr>
          <p:cNvPr id="198" name="Google Shape;198;p17"/>
          <p:cNvGrpSpPr/>
          <p:nvPr/>
        </p:nvGrpSpPr>
        <p:grpSpPr>
          <a:xfrm>
            <a:off x="381000" y="857250"/>
            <a:ext cx="4048200" cy="1809600"/>
            <a:chOff x="0" y="0"/>
            <a:chExt cx="4048200" cy="1809600"/>
          </a:xfrm>
        </p:grpSpPr>
        <p:sp>
          <p:nvSpPr>
            <p:cNvPr id="199" name="Google Shape;199;p17"/>
            <p:cNvSpPr/>
            <p:nvPr/>
          </p:nvSpPr>
          <p:spPr>
            <a:xfrm>
              <a:off x="0" y="0"/>
              <a:ext cx="4048200" cy="18096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0" y="0"/>
              <a:ext cx="4048200" cy="324000"/>
            </a:xfrm>
            <a:prstGeom prst="roundRect">
              <a:avLst>
                <a:gd fmla="val 23529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0" y="190500"/>
              <a:ext cx="4048200" cy="1335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7"/>
            <p:cNvSpPr txBox="1"/>
            <p:nvPr/>
          </p:nvSpPr>
          <p:spPr>
            <a:xfrm>
              <a:off x="114300" y="47625"/>
              <a:ext cx="38196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3366"/>
                  </a:solidFill>
                  <a:latin typeface="Oswald"/>
                  <a:ea typeface="Oswald"/>
                  <a:cs typeface="Oswald"/>
                  <a:sym typeface="Oswald"/>
                </a:rPr>
                <a:t>1. EXTREME SUB-ZERO ENVIRONMENT (-40°C)  </a:t>
              </a:r>
              <a:r>
                <a:rPr b="1" lang="en" sz="750">
                  <a:solidFill>
                    <a:srgbClr val="991B1B"/>
                  </a:solidFill>
                  <a:highlight>
                    <a:srgbClr val="FEE2E2"/>
                  </a:highlight>
                  <a:latin typeface="Calibri"/>
                  <a:ea typeface="Calibri"/>
                  <a:cs typeface="Calibri"/>
                  <a:sym typeface="Calibri"/>
                </a:rPr>
                <a:t>ENVIRONMENTAL RISK</a:t>
              </a:r>
              <a:endParaRPr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03" name="Google Shape;203;p17"/>
            <p:cNvSpPr txBox="1"/>
            <p:nvPr/>
          </p:nvSpPr>
          <p:spPr>
            <a:xfrm>
              <a:off x="114300" y="381000"/>
              <a:ext cx="38196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DC2626"/>
                  </a:solidFill>
                  <a:latin typeface="Calibri"/>
                  <a:ea typeface="Calibri"/>
                  <a:cs typeface="Calibri"/>
                  <a:sym typeface="Calibri"/>
                </a:rPr>
                <a:t>Challenge: </a:t>
              </a:r>
              <a:r>
                <a:rPr lang="en" sz="9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Severe sub-zero conditions risk drive freezing, thermal contraction, and hardware failures on station edge units.</a:t>
              </a:r>
              <a:endParaRPr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15803D"/>
                  </a:solidFill>
                  <a:highlight>
                    <a:srgbClr val="F0FDF4"/>
                  </a:highlight>
                  <a:latin typeface="Calibri"/>
                  <a:ea typeface="Calibri"/>
                  <a:cs typeface="Calibri"/>
                  <a:sym typeface="Calibri"/>
                </a:rPr>
                <a:t>➔ Industrial-Grade Offline RFID &amp; Ruggedized UI</a:t>
              </a:r>
              <a:endParaRPr b="1" sz="950">
                <a:solidFill>
                  <a:srgbClr val="15803D"/>
                </a:solidFill>
                <a:highlight>
                  <a:srgbClr val="F0FDF4"/>
                </a:highlight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166534"/>
                  </a:solidFill>
                  <a:highlight>
                    <a:srgbClr val="F0FDF4"/>
                  </a:highlight>
                  <a:latin typeface="Calibri"/>
                  <a:ea typeface="Calibri"/>
                  <a:cs typeface="Calibri"/>
                  <a:sym typeface="Calibri"/>
                </a:rPr>
                <a:t>Low-overhead containerized standards (Docker, SQLite, PWA) operating reliably on rugged tablets without specialized procurement.</a:t>
              </a:r>
              <a:endParaRPr sz="850">
                <a:solidFill>
                  <a:srgbClr val="166534"/>
                </a:solidFill>
                <a:highlight>
                  <a:srgbClr val="F0FDF4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17"/>
          <p:cNvGrpSpPr/>
          <p:nvPr/>
        </p:nvGrpSpPr>
        <p:grpSpPr>
          <a:xfrm>
            <a:off x="4714875" y="857250"/>
            <a:ext cx="4048200" cy="1809600"/>
            <a:chOff x="0" y="0"/>
            <a:chExt cx="4048200" cy="1809600"/>
          </a:xfrm>
        </p:grpSpPr>
        <p:sp>
          <p:nvSpPr>
            <p:cNvPr id="205" name="Google Shape;205;p17"/>
            <p:cNvSpPr/>
            <p:nvPr/>
          </p:nvSpPr>
          <p:spPr>
            <a:xfrm>
              <a:off x="0" y="0"/>
              <a:ext cx="4048200" cy="18096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0" y="0"/>
              <a:ext cx="4048200" cy="324000"/>
            </a:xfrm>
            <a:prstGeom prst="roundRect">
              <a:avLst>
                <a:gd fmla="val 23529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0" y="190500"/>
              <a:ext cx="4048200" cy="1335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7"/>
            <p:cNvSpPr txBox="1"/>
            <p:nvPr/>
          </p:nvSpPr>
          <p:spPr>
            <a:xfrm>
              <a:off x="114300" y="47625"/>
              <a:ext cx="38196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3366"/>
                  </a:solidFill>
                  <a:latin typeface="Oswald"/>
                  <a:ea typeface="Oswald"/>
                  <a:cs typeface="Oswald"/>
                  <a:sym typeface="Oswald"/>
                </a:rPr>
                <a:t>2. POLAR SATELLITE BLACKOUTS  </a:t>
              </a:r>
              <a:r>
                <a:rPr b="1" lang="en" sz="750">
                  <a:solidFill>
                    <a:srgbClr val="C2410C"/>
                  </a:solidFill>
                  <a:highlight>
                    <a:srgbClr val="FFEDD5"/>
                  </a:highlight>
                  <a:latin typeface="Calibri"/>
                  <a:ea typeface="Calibri"/>
                  <a:cs typeface="Calibri"/>
                  <a:sym typeface="Calibri"/>
                </a:rPr>
                <a:t>CONNECTIVITY RISK</a:t>
              </a:r>
              <a:endParaRPr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09" name="Google Shape;209;p17"/>
            <p:cNvSpPr txBox="1"/>
            <p:nvPr/>
          </p:nvSpPr>
          <p:spPr>
            <a:xfrm>
              <a:off x="114300" y="381000"/>
              <a:ext cx="38196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DC2626"/>
                  </a:solidFill>
                  <a:latin typeface="Calibri"/>
                  <a:ea typeface="Calibri"/>
                  <a:cs typeface="Calibri"/>
                  <a:sym typeface="Calibri"/>
                </a:rPr>
                <a:t>Challenge: </a:t>
              </a:r>
              <a:r>
                <a:rPr lang="en" sz="9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Extended ionospheric blizzards and solar storms frequently sever polar satellite links for weeks.</a:t>
              </a:r>
              <a:endParaRPr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15803D"/>
                  </a:solidFill>
                  <a:highlight>
                    <a:srgbClr val="F0FDF4"/>
                  </a:highlight>
                  <a:latin typeface="Calibri"/>
                  <a:ea typeface="Calibri"/>
                  <a:cs typeface="Calibri"/>
                  <a:sym typeface="Calibri"/>
                </a:rPr>
                <a:t>➔ Conflict-Free Offline PWA with Background Sync</a:t>
              </a:r>
              <a:endParaRPr b="1" sz="950">
                <a:solidFill>
                  <a:srgbClr val="15803D"/>
                </a:solidFill>
                <a:highlight>
                  <a:srgbClr val="F0FDF4"/>
                </a:highlight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166534"/>
                  </a:solidFill>
                  <a:highlight>
                    <a:srgbClr val="F0FDF4"/>
                  </a:highlight>
                  <a:latin typeface="Calibri"/>
                  <a:ea typeface="Calibri"/>
                  <a:cs typeface="Calibri"/>
                  <a:sym typeface="Calibri"/>
                </a:rPr>
                <a:t>Store-and-forward queue lets local nodes operate autonomously indefinitely; safely syncing in micro-bursts upon link restoration.</a:t>
              </a:r>
              <a:endParaRPr sz="850">
                <a:solidFill>
                  <a:srgbClr val="166534"/>
                </a:solidFill>
                <a:highlight>
                  <a:srgbClr val="F0FDF4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17"/>
          <p:cNvGrpSpPr/>
          <p:nvPr/>
        </p:nvGrpSpPr>
        <p:grpSpPr>
          <a:xfrm>
            <a:off x="381000" y="2809875"/>
            <a:ext cx="4048200" cy="1809600"/>
            <a:chOff x="0" y="0"/>
            <a:chExt cx="4048200" cy="1809600"/>
          </a:xfrm>
        </p:grpSpPr>
        <p:sp>
          <p:nvSpPr>
            <p:cNvPr id="211" name="Google Shape;211;p17"/>
            <p:cNvSpPr/>
            <p:nvPr/>
          </p:nvSpPr>
          <p:spPr>
            <a:xfrm>
              <a:off x="0" y="0"/>
              <a:ext cx="4048200" cy="18096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0" y="0"/>
              <a:ext cx="4048200" cy="324000"/>
            </a:xfrm>
            <a:prstGeom prst="roundRect">
              <a:avLst>
                <a:gd fmla="val 23529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0" y="190500"/>
              <a:ext cx="4048200" cy="1335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114300" y="47625"/>
              <a:ext cx="38196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3366"/>
                  </a:solidFill>
                  <a:latin typeface="Oswald"/>
                  <a:ea typeface="Oswald"/>
                  <a:cs typeface="Oswald"/>
                  <a:sym typeface="Oswald"/>
                </a:rPr>
                <a:t>3. LIFE-SUPPORT FUEL / RATION DEPLETION  </a:t>
              </a:r>
              <a:r>
                <a:rPr b="1" lang="en" sz="750">
                  <a:solidFill>
                    <a:srgbClr val="991B1B"/>
                  </a:solidFill>
                  <a:highlight>
                    <a:srgbClr val="FEE2E2"/>
                  </a:highlight>
                  <a:latin typeface="Calibri"/>
                  <a:ea typeface="Calibri"/>
                  <a:cs typeface="Calibri"/>
                  <a:sym typeface="Calibri"/>
                </a:rPr>
                <a:t>CRITICAL SAFETY RISK</a:t>
              </a:r>
              <a:endParaRPr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15" name="Google Shape;215;p17"/>
            <p:cNvSpPr txBox="1"/>
            <p:nvPr/>
          </p:nvSpPr>
          <p:spPr>
            <a:xfrm>
              <a:off x="114300" y="381000"/>
              <a:ext cx="38196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DC2626"/>
                  </a:solidFill>
                  <a:latin typeface="Calibri"/>
                  <a:ea typeface="Calibri"/>
                  <a:cs typeface="Calibri"/>
                  <a:sym typeface="Calibri"/>
                </a:rPr>
                <a:t>Challenge: </a:t>
              </a:r>
              <a:r>
                <a:rPr lang="en" sz="9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Unplanned inventory consumption during 14-month polar night overwintering cycles.</a:t>
              </a:r>
              <a:endParaRPr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15803D"/>
                  </a:solidFill>
                  <a:highlight>
                    <a:srgbClr val="F0FDF4"/>
                  </a:highlight>
                  <a:latin typeface="Calibri"/>
                  <a:ea typeface="Calibri"/>
                  <a:cs typeface="Calibri"/>
                  <a:sym typeface="Calibri"/>
                </a:rPr>
                <a:t>➔ Predictive ML Burn-Rate Early Warning</a:t>
              </a:r>
              <a:endParaRPr b="1" sz="950">
                <a:solidFill>
                  <a:srgbClr val="15803D"/>
                </a:solidFill>
                <a:highlight>
                  <a:srgbClr val="F0FDF4"/>
                </a:highlight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166534"/>
                  </a:solidFill>
                  <a:highlight>
                    <a:srgbClr val="F0FDF4"/>
                  </a:highlight>
                  <a:latin typeface="Calibri"/>
                  <a:ea typeface="Calibri"/>
                  <a:cs typeface="Calibri"/>
                  <a:sym typeface="Calibri"/>
                </a:rPr>
                <a:t>Dual-node active-passive edge clustering at Bharati &amp; Maitri with automated hourly encrypted flash backups and burn forecasts.</a:t>
              </a:r>
              <a:endParaRPr sz="850">
                <a:solidFill>
                  <a:srgbClr val="166534"/>
                </a:solidFill>
                <a:highlight>
                  <a:srgbClr val="F0FDF4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17"/>
          <p:cNvGrpSpPr/>
          <p:nvPr/>
        </p:nvGrpSpPr>
        <p:grpSpPr>
          <a:xfrm>
            <a:off x="4714875" y="2809875"/>
            <a:ext cx="4048200" cy="1809600"/>
            <a:chOff x="0" y="0"/>
            <a:chExt cx="4048200" cy="1809600"/>
          </a:xfrm>
        </p:grpSpPr>
        <p:sp>
          <p:nvSpPr>
            <p:cNvPr id="217" name="Google Shape;217;p17"/>
            <p:cNvSpPr/>
            <p:nvPr/>
          </p:nvSpPr>
          <p:spPr>
            <a:xfrm>
              <a:off x="0" y="0"/>
              <a:ext cx="4048200" cy="18096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0" y="0"/>
              <a:ext cx="4048200" cy="324000"/>
            </a:xfrm>
            <a:prstGeom prst="roundRect">
              <a:avLst>
                <a:gd fmla="val 23529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0" y="190500"/>
              <a:ext cx="4048200" cy="1335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7"/>
            <p:cNvSpPr txBox="1"/>
            <p:nvPr/>
          </p:nvSpPr>
          <p:spPr>
            <a:xfrm>
              <a:off x="114300" y="47625"/>
              <a:ext cx="38196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3366"/>
                  </a:solidFill>
                  <a:latin typeface="Oswald"/>
                  <a:ea typeface="Oswald"/>
                  <a:cs typeface="Oswald"/>
                  <a:sym typeface="Oswald"/>
                </a:rPr>
                <a:t>4. MULTI-STATION INTEROPERABILITY  </a:t>
              </a:r>
              <a:r>
                <a:rPr b="1" lang="en" sz="750">
                  <a:solidFill>
                    <a:srgbClr val="1E40AF"/>
                  </a:solidFill>
                  <a:highlight>
                    <a:srgbClr val="DBEAFE"/>
                  </a:highlight>
                  <a:latin typeface="Calibri"/>
                  <a:ea typeface="Calibri"/>
                  <a:cs typeface="Calibri"/>
                  <a:sym typeface="Calibri"/>
                </a:rPr>
                <a:t>GOVERNANCE &amp; COMPLIANCE</a:t>
              </a:r>
              <a:endParaRPr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21" name="Google Shape;221;p17"/>
            <p:cNvSpPr txBox="1"/>
            <p:nvPr/>
          </p:nvSpPr>
          <p:spPr>
            <a:xfrm>
              <a:off x="114300" y="381000"/>
              <a:ext cx="38196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DC2626"/>
                  </a:solidFill>
                  <a:latin typeface="Calibri"/>
                  <a:ea typeface="Calibri"/>
                  <a:cs typeface="Calibri"/>
                  <a:sym typeface="Calibri"/>
                </a:rPr>
                <a:t>Challenge: </a:t>
              </a:r>
              <a:r>
                <a:rPr lang="en" sz="9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Paper manifests, disconnected Excel sheets, and legal liabilities for polar environmental governance.</a:t>
              </a:r>
              <a:endParaRPr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15803D"/>
                  </a:solidFill>
                  <a:highlight>
                    <a:srgbClr val="F0FDF4"/>
                  </a:highlight>
                  <a:latin typeface="Calibri"/>
                  <a:ea typeface="Calibri"/>
                  <a:cs typeface="Calibri"/>
                  <a:sym typeface="Calibri"/>
                </a:rPr>
                <a:t>➔ Unified ERP Spanning Antarctica &amp; Arctic</a:t>
              </a:r>
              <a:endParaRPr b="1" sz="950">
                <a:solidFill>
                  <a:srgbClr val="15803D"/>
                </a:solidFill>
                <a:highlight>
                  <a:srgbClr val="F0FDF4"/>
                </a:highlight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166534"/>
                  </a:solidFill>
                  <a:highlight>
                    <a:srgbClr val="F0FDF4"/>
                  </a:highlight>
                  <a:latin typeface="Calibri"/>
                  <a:ea typeface="Calibri"/>
                  <a:cs typeface="Calibri"/>
                  <a:sym typeface="Calibri"/>
                </a:rPr>
                <a:t>Air-gapped sovereign design with Madrid Protocol environmental ledger for automated tracking of hazardous waste &amp; fuel bunkering.</a:t>
              </a:r>
              <a:endParaRPr sz="850">
                <a:solidFill>
                  <a:srgbClr val="166534"/>
                </a:solidFill>
                <a:highlight>
                  <a:srgbClr val="F0FDF4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17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3" name="Google Shape;223;p17"/>
          <p:cNvSpPr txBox="1"/>
          <p:nvPr>
            <p:ph idx="11" type="ftr"/>
          </p:nvPr>
        </p:nvSpPr>
        <p:spPr>
          <a:xfrm>
            <a:off x="3486150" y="4767265"/>
            <a:ext cx="240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700"/>
              <a:buFont typeface="Oswald"/>
              <a:buNone/>
            </a:pPr>
            <a:r>
              <a:rPr lang="en" sz="700">
                <a:solidFill>
                  <a:srgbClr val="6E6E6E"/>
                </a:solidFill>
              </a:rPr>
              <a:t>SIH 2026 Idea Submission | PS: SIH26062 | MoES / NCPOR</a:t>
            </a:r>
            <a:endParaRPr b="0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24" name="Google Shape;2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5" y="1125"/>
            <a:ext cx="1687388" cy="796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7" title="icon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4225" y="-108925"/>
            <a:ext cx="1016825" cy="101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"/>
          <p:cNvSpPr/>
          <p:nvPr/>
        </p:nvSpPr>
        <p:spPr>
          <a:xfrm>
            <a:off x="0" y="4766072"/>
            <a:ext cx="9144000" cy="3774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 txBox="1"/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400">
                <a:solidFill>
                  <a:srgbClr val="003366"/>
                </a:solidFill>
              </a:rPr>
              <a:t>STRATEGIC, ECONOMIC &amp; LIFE-SAFETY IMPACT</a:t>
            </a:r>
            <a:endParaRPr/>
          </a:p>
        </p:txBody>
      </p:sp>
      <p:grpSp>
        <p:nvGrpSpPr>
          <p:cNvPr id="233" name="Google Shape;233;p18"/>
          <p:cNvGrpSpPr/>
          <p:nvPr/>
        </p:nvGrpSpPr>
        <p:grpSpPr>
          <a:xfrm>
            <a:off x="428625" y="809625"/>
            <a:ext cx="2571900" cy="3762300"/>
            <a:chOff x="0" y="0"/>
            <a:chExt cx="2571900" cy="3762300"/>
          </a:xfrm>
        </p:grpSpPr>
        <p:sp>
          <p:nvSpPr>
            <p:cNvPr id="234" name="Google Shape;234;p18"/>
            <p:cNvSpPr/>
            <p:nvPr/>
          </p:nvSpPr>
          <p:spPr>
            <a:xfrm>
              <a:off x="0" y="0"/>
              <a:ext cx="2571900" cy="37623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4300">
              <a:solidFill>
                <a:srgbClr val="D0E0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0" y="0"/>
              <a:ext cx="2571900" cy="400200"/>
            </a:xfrm>
            <a:prstGeom prst="roundRect">
              <a:avLst>
                <a:gd fmla="val 19047" name="adj"/>
              </a:avLst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0" y="257175"/>
              <a:ext cx="2571900" cy="142800"/>
            </a:xfrm>
            <a:prstGeom prst="rect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8"/>
            <p:cNvSpPr txBox="1"/>
            <p:nvPr/>
          </p:nvSpPr>
          <p:spPr>
            <a:xfrm>
              <a:off x="0" y="0"/>
              <a:ext cx="2571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366"/>
                  </a:solidFill>
                  <a:latin typeface="Oswald"/>
                  <a:ea typeface="Oswald"/>
                  <a:cs typeface="Oswald"/>
                  <a:sym typeface="Oswald"/>
                </a:rPr>
                <a:t>PILLAR 1: STRATEGIC AUTONOMY</a:t>
              </a:r>
              <a:endParaRPr b="1" sz="1100">
                <a:solidFill>
                  <a:srgbClr val="003366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38" name="Google Shape;238;p18"/>
            <p:cNvSpPr txBox="1"/>
            <p:nvPr/>
          </p:nvSpPr>
          <p:spPr>
            <a:xfrm>
              <a:off x="142875" y="495300"/>
              <a:ext cx="2286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0070C0"/>
                  </a:solidFill>
                  <a:latin typeface="Oswald"/>
                  <a:ea typeface="Oswald"/>
                  <a:cs typeface="Oswald"/>
                  <a:sym typeface="Oswald"/>
                </a:rPr>
                <a:t>ATMANIRBHAR</a:t>
              </a:r>
              <a:endParaRPr b="1" sz="2200">
                <a:solidFill>
                  <a:srgbClr val="0070C0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POLAR GOVERNANCE FOR MoES / NCPOR</a:t>
              </a:r>
              <a:endParaRPr b="1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9" name="Google Shape;239;p18"/>
            <p:cNvCxnSpPr/>
            <p:nvPr/>
          </p:nvCxnSpPr>
          <p:spPr>
            <a:xfrm>
              <a:off x="190500" y="1219200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0" name="Google Shape;240;p18"/>
            <p:cNvSpPr txBox="1"/>
            <p:nvPr/>
          </p:nvSpPr>
          <p:spPr>
            <a:xfrm>
              <a:off x="142875" y="1314450"/>
              <a:ext cx="2286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Sovereign Operational Backbone</a:t>
              </a:r>
              <a:endParaRPr b="1" sz="95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Delivers an indigenously developed polar operational framework, elevating India's standing at ATCM meetings.</a:t>
              </a:r>
              <a:endParaRPr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360° Operational Visibility</a:t>
              </a:r>
              <a:endParaRPr b="1" sz="95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Continuous situational awareness over station occupancy, fuel health, and scientific field traverses.</a:t>
              </a:r>
              <a:endParaRPr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Madrid Protocol Compliance</a:t>
              </a:r>
              <a:endParaRPr b="1" sz="95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Automated tracking of hazardous waste, fuel bunkering, and mandatory return-waste back to India.</a:t>
              </a:r>
              <a:endParaRPr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18"/>
          <p:cNvGrpSpPr/>
          <p:nvPr/>
        </p:nvGrpSpPr>
        <p:grpSpPr>
          <a:xfrm>
            <a:off x="3286125" y="809625"/>
            <a:ext cx="2571900" cy="3762300"/>
            <a:chOff x="0" y="0"/>
            <a:chExt cx="2571900" cy="3762300"/>
          </a:xfrm>
        </p:grpSpPr>
        <p:sp>
          <p:nvSpPr>
            <p:cNvPr id="242" name="Google Shape;242;p18"/>
            <p:cNvSpPr/>
            <p:nvPr/>
          </p:nvSpPr>
          <p:spPr>
            <a:xfrm>
              <a:off x="0" y="0"/>
              <a:ext cx="2571900" cy="37623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430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8"/>
            <p:cNvSpPr/>
            <p:nvPr/>
          </p:nvSpPr>
          <p:spPr>
            <a:xfrm>
              <a:off x="0" y="0"/>
              <a:ext cx="2571900" cy="400200"/>
            </a:xfrm>
            <a:prstGeom prst="roundRect">
              <a:avLst>
                <a:gd fmla="val 19047" name="adj"/>
              </a:avLst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8"/>
            <p:cNvSpPr/>
            <p:nvPr/>
          </p:nvSpPr>
          <p:spPr>
            <a:xfrm>
              <a:off x="0" y="257175"/>
              <a:ext cx="2571900" cy="142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8"/>
            <p:cNvSpPr txBox="1"/>
            <p:nvPr/>
          </p:nvSpPr>
          <p:spPr>
            <a:xfrm>
              <a:off x="0" y="0"/>
              <a:ext cx="2571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PILLAR 2: OPERATIONAL EFFICIENCY</a:t>
              </a:r>
              <a:endParaRPr b="1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46" name="Google Shape;246;p18"/>
            <p:cNvSpPr txBox="1"/>
            <p:nvPr/>
          </p:nvSpPr>
          <p:spPr>
            <a:xfrm>
              <a:off x="142875" y="495300"/>
              <a:ext cx="2286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0070C0"/>
                  </a:solidFill>
                  <a:latin typeface="Oswald"/>
                  <a:ea typeface="Oswald"/>
                  <a:cs typeface="Oswald"/>
                  <a:sym typeface="Oswald"/>
                </a:rPr>
                <a:t>72h ➔ &lt;6h</a:t>
              </a:r>
              <a:endParaRPr b="1" sz="2200">
                <a:solidFill>
                  <a:srgbClr val="0070C0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12X FASTER ICE-EDGE RECONCILIATION</a:t>
              </a:r>
              <a:endParaRPr b="1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7" name="Google Shape;247;p18"/>
            <p:cNvCxnSpPr/>
            <p:nvPr/>
          </p:nvCxnSpPr>
          <p:spPr>
            <a:xfrm>
              <a:off x="190500" y="1219200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8" name="Google Shape;248;p18"/>
            <p:cNvSpPr txBox="1"/>
            <p:nvPr/>
          </p:nvSpPr>
          <p:spPr>
            <a:xfrm>
              <a:off x="142875" y="1314450"/>
              <a:ext cx="2286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Rapid Icebreaker Offload</a:t>
              </a:r>
              <a:endParaRPr b="1" sz="95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Slashes chartered vessel cargo manifest reconciliation time on fast ice shelf from 72h to &lt;6h.</a:t>
              </a:r>
              <a:endParaRPr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Supply Chain Loss Prevention</a:t>
              </a:r>
              <a:endParaRPr b="1" sz="95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Prevents multi-crore losses from misplaced machinery spares and damaged perishable rations.</a:t>
              </a:r>
              <a:endParaRPr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Air-Charter Optimization</a:t>
              </a:r>
              <a:endParaRPr b="1" sz="95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Eliminates costly emergency air-charters from Cape Town via accurate burn-rate forecasting.</a:t>
              </a:r>
              <a:endParaRPr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8"/>
          <p:cNvGrpSpPr/>
          <p:nvPr/>
        </p:nvGrpSpPr>
        <p:grpSpPr>
          <a:xfrm>
            <a:off x="6143625" y="809625"/>
            <a:ext cx="2571900" cy="3762300"/>
            <a:chOff x="0" y="0"/>
            <a:chExt cx="2571900" cy="3762300"/>
          </a:xfrm>
        </p:grpSpPr>
        <p:sp>
          <p:nvSpPr>
            <p:cNvPr id="250" name="Google Shape;250;p18"/>
            <p:cNvSpPr/>
            <p:nvPr/>
          </p:nvSpPr>
          <p:spPr>
            <a:xfrm>
              <a:off x="0" y="0"/>
              <a:ext cx="2571900" cy="37623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4300">
              <a:solidFill>
                <a:srgbClr val="D0E0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8"/>
            <p:cNvSpPr/>
            <p:nvPr/>
          </p:nvSpPr>
          <p:spPr>
            <a:xfrm>
              <a:off x="0" y="0"/>
              <a:ext cx="2571900" cy="400200"/>
            </a:xfrm>
            <a:prstGeom prst="roundRect">
              <a:avLst>
                <a:gd fmla="val 19047" name="adj"/>
              </a:avLst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8"/>
            <p:cNvSpPr/>
            <p:nvPr/>
          </p:nvSpPr>
          <p:spPr>
            <a:xfrm>
              <a:off x="0" y="257175"/>
              <a:ext cx="2571900" cy="142800"/>
            </a:xfrm>
            <a:prstGeom prst="rect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8"/>
            <p:cNvSpPr txBox="1"/>
            <p:nvPr/>
          </p:nvSpPr>
          <p:spPr>
            <a:xfrm>
              <a:off x="0" y="0"/>
              <a:ext cx="2571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366"/>
                  </a:solidFill>
                  <a:latin typeface="Oswald"/>
                  <a:ea typeface="Oswald"/>
                  <a:cs typeface="Oswald"/>
                  <a:sym typeface="Oswald"/>
                </a:rPr>
                <a:t>PILLAR 3: LIFE SAFETY &amp; ZERO FAILURE</a:t>
              </a:r>
              <a:endParaRPr b="1" sz="1100">
                <a:solidFill>
                  <a:srgbClr val="003366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54" name="Google Shape;254;p18"/>
            <p:cNvSpPr txBox="1"/>
            <p:nvPr/>
          </p:nvSpPr>
          <p:spPr>
            <a:xfrm>
              <a:off x="142875" y="495300"/>
              <a:ext cx="2286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0070C0"/>
                  </a:solidFill>
                  <a:latin typeface="Oswald"/>
                  <a:ea typeface="Oswald"/>
                  <a:cs typeface="Oswald"/>
                  <a:sym typeface="Oswald"/>
                </a:rPr>
                <a:t>&lt; 2 MIN</a:t>
              </a:r>
              <a:endParaRPr b="1" sz="2200">
                <a:solidFill>
                  <a:srgbClr val="0070C0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INSTANT TRIAGE &amp; TARGET ZERO CASUALTIES</a:t>
              </a:r>
              <a:endParaRPr b="1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5" name="Google Shape;255;p18"/>
            <p:cNvCxnSpPr/>
            <p:nvPr/>
          </p:nvCxnSpPr>
          <p:spPr>
            <a:xfrm>
              <a:off x="190500" y="1219200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6" name="Google Shape;256;p18"/>
            <p:cNvSpPr txBox="1"/>
            <p:nvPr/>
          </p:nvSpPr>
          <p:spPr>
            <a:xfrm>
              <a:off x="142875" y="1314450"/>
              <a:ext cx="2286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Rapid Search &amp; Rescue (SAR)</a:t>
              </a:r>
              <a:endParaRPr b="1" sz="95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Slashes blizzard SAR dispatch latency from hours to under 2 minutes with automated distress beacons.</a:t>
              </a:r>
              <a:endParaRPr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Geofenced Field Tracking</a:t>
              </a:r>
              <a:endParaRPr b="1" sz="95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Real-time tracking and automated weather lockouts prevent field disorientation during whiteouts.</a:t>
              </a:r>
              <a:endParaRPr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rPr>
                <a:t>14-Month Life Support Reserve</a:t>
              </a:r>
              <a:endParaRPr b="1" sz="95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Protects wintering crews by ensuring unbroken power generator fuel reserves through polar nights.</a:t>
              </a:r>
              <a:endParaRPr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p18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8" name="Google Shape;258;p18"/>
          <p:cNvSpPr txBox="1"/>
          <p:nvPr>
            <p:ph idx="11" type="ftr"/>
          </p:nvPr>
        </p:nvSpPr>
        <p:spPr>
          <a:xfrm>
            <a:off x="3486150" y="4767265"/>
            <a:ext cx="240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700"/>
              <a:buFont typeface="Oswald"/>
              <a:buNone/>
            </a:pPr>
            <a:r>
              <a:rPr lang="en" sz="700">
                <a:solidFill>
                  <a:srgbClr val="6E6E6E"/>
                </a:solidFill>
              </a:rPr>
              <a:t>SIH 2026 Idea Submission | PS: SIH26062 | MoES / NCPOR</a:t>
            </a:r>
            <a:endParaRPr b="0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59" name="Google Shape;2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5" y="1125"/>
            <a:ext cx="1687388" cy="796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8" title="icon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42200" cy="94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9"/>
          <p:cNvSpPr/>
          <p:nvPr/>
        </p:nvSpPr>
        <p:spPr>
          <a:xfrm>
            <a:off x="0" y="4766072"/>
            <a:ext cx="9144000" cy="3774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 txBox="1"/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400">
                <a:solidFill>
                  <a:srgbClr val="003366"/>
                </a:solidFill>
              </a:rPr>
              <a:t>RESEARCH FOUNDATIONS, STANDARDS &amp; REFERENCES</a:t>
            </a:r>
            <a:endParaRPr/>
          </a:p>
        </p:txBody>
      </p:sp>
      <p:grpSp>
        <p:nvGrpSpPr>
          <p:cNvPr id="268" name="Google Shape;268;p19"/>
          <p:cNvGrpSpPr/>
          <p:nvPr/>
        </p:nvGrpSpPr>
        <p:grpSpPr>
          <a:xfrm>
            <a:off x="381000" y="809625"/>
            <a:ext cx="4048200" cy="3762300"/>
            <a:chOff x="0" y="0"/>
            <a:chExt cx="4048200" cy="3762300"/>
          </a:xfrm>
        </p:grpSpPr>
        <p:sp>
          <p:nvSpPr>
            <p:cNvPr id="269" name="Google Shape;269;p19"/>
            <p:cNvSpPr/>
            <p:nvPr/>
          </p:nvSpPr>
          <p:spPr>
            <a:xfrm>
              <a:off x="0" y="0"/>
              <a:ext cx="4048200" cy="3762300"/>
            </a:xfrm>
            <a:prstGeom prst="roundRect">
              <a:avLst>
                <a:gd fmla="val 2025" name="adj"/>
              </a:avLst>
            </a:prstGeom>
            <a:solidFill>
              <a:srgbClr val="FFFFFF"/>
            </a:solidFill>
            <a:ln cap="flat" cmpd="sng" w="14300">
              <a:solidFill>
                <a:srgbClr val="D0E0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0" y="0"/>
              <a:ext cx="4048200" cy="400200"/>
            </a:xfrm>
            <a:prstGeom prst="roundRect">
              <a:avLst>
                <a:gd fmla="val 19047" name="adj"/>
              </a:avLst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0" y="257175"/>
              <a:ext cx="4048200" cy="142800"/>
            </a:xfrm>
            <a:prstGeom prst="rect">
              <a:avLst/>
            </a:prstGeom>
            <a:solidFill>
              <a:srgbClr val="E6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9"/>
            <p:cNvSpPr txBox="1"/>
            <p:nvPr/>
          </p:nvSpPr>
          <p:spPr>
            <a:xfrm>
              <a:off x="0" y="0"/>
              <a:ext cx="40482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366"/>
                  </a:solidFill>
                  <a:latin typeface="Oswald"/>
                  <a:ea typeface="Oswald"/>
                  <a:cs typeface="Oswald"/>
                  <a:sym typeface="Oswald"/>
                </a:rPr>
                <a:t>OFFICIAL INSTITUTIONAL PORTALS</a:t>
              </a:r>
              <a:endParaRPr b="1" sz="1100">
                <a:solidFill>
                  <a:srgbClr val="003366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grpSp>
          <p:nvGrpSpPr>
            <p:cNvPr id="273" name="Google Shape;273;p19"/>
            <p:cNvGrpSpPr/>
            <p:nvPr/>
          </p:nvGrpSpPr>
          <p:grpSpPr>
            <a:xfrm>
              <a:off x="152400" y="495300"/>
              <a:ext cx="3743400" cy="705000"/>
              <a:chOff x="0" y="0"/>
              <a:chExt cx="3743400" cy="705000"/>
            </a:xfrm>
          </p:grpSpPr>
          <p:sp>
            <p:nvSpPr>
              <p:cNvPr id="274" name="Google Shape;274;p19"/>
              <p:cNvSpPr/>
              <p:nvPr/>
            </p:nvSpPr>
            <p:spPr>
              <a:xfrm>
                <a:off x="0" y="0"/>
                <a:ext cx="3743400" cy="705000"/>
              </a:xfrm>
              <a:prstGeom prst="roundRect">
                <a:avLst>
                  <a:gd fmla="val 8108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BCE0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9"/>
              <p:cNvSpPr txBox="1"/>
              <p:nvPr/>
            </p:nvSpPr>
            <p:spPr>
              <a:xfrm>
                <a:off x="114300" y="76200"/>
                <a:ext cx="35148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FFFFF"/>
                    </a:solidFill>
                    <a:highlight>
                      <a:srgbClr val="0070C0"/>
                    </a:highlight>
                    <a:latin typeface="Oswald"/>
                    <a:ea typeface="Oswald"/>
                    <a:cs typeface="Oswald"/>
                    <a:sym typeface="Oswald"/>
                  </a:rPr>
                  <a:t> [ ncpor.res.in ] </a:t>
                </a:r>
                <a:r>
                  <a:rPr b="1" lang="en" sz="950">
                    <a:solidFill>
                      <a:srgbClr val="00336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➔ National Centre for Polar and Ocean Research</a:t>
                </a:r>
                <a:endParaRPr sz="9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MoES expedition logistics &amp; station records</a:t>
                </a:r>
                <a:endParaRPr sz="8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6" name="Google Shape;276;p19"/>
            <p:cNvGrpSpPr/>
            <p:nvPr/>
          </p:nvGrpSpPr>
          <p:grpSpPr>
            <a:xfrm>
              <a:off x="152400" y="1276350"/>
              <a:ext cx="3743400" cy="705000"/>
              <a:chOff x="0" y="0"/>
              <a:chExt cx="3743400" cy="705000"/>
            </a:xfrm>
          </p:grpSpPr>
          <p:sp>
            <p:nvSpPr>
              <p:cNvPr id="277" name="Google Shape;277;p19"/>
              <p:cNvSpPr/>
              <p:nvPr/>
            </p:nvSpPr>
            <p:spPr>
              <a:xfrm>
                <a:off x="0" y="0"/>
                <a:ext cx="3743400" cy="705000"/>
              </a:xfrm>
              <a:prstGeom prst="roundRect">
                <a:avLst>
                  <a:gd fmla="val 8108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BCE0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19"/>
              <p:cNvSpPr txBox="1"/>
              <p:nvPr/>
            </p:nvSpPr>
            <p:spPr>
              <a:xfrm>
                <a:off x="114300" y="76200"/>
                <a:ext cx="35148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FFFFF"/>
                    </a:solidFill>
                    <a:highlight>
                      <a:srgbClr val="0070C0"/>
                    </a:highlight>
                    <a:latin typeface="Oswald"/>
                    <a:ea typeface="Oswald"/>
                    <a:cs typeface="Oswald"/>
                    <a:sym typeface="Oswald"/>
                  </a:rPr>
                  <a:t> [ comnap.aq ] </a:t>
                </a:r>
                <a:r>
                  <a:rPr b="1" lang="en" sz="950">
                    <a:solidFill>
                      <a:srgbClr val="00336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➔ Council of Managers of National Antarctic Programs</a:t>
                </a:r>
                <a:endParaRPr sz="9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Station safety &amp; air operations</a:t>
                </a:r>
                <a:endParaRPr sz="8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9" name="Google Shape;279;p19"/>
            <p:cNvGrpSpPr/>
            <p:nvPr/>
          </p:nvGrpSpPr>
          <p:grpSpPr>
            <a:xfrm>
              <a:off x="152400" y="2057400"/>
              <a:ext cx="3743400" cy="705000"/>
              <a:chOff x="0" y="0"/>
              <a:chExt cx="3743400" cy="705000"/>
            </a:xfrm>
          </p:grpSpPr>
          <p:sp>
            <p:nvSpPr>
              <p:cNvPr id="280" name="Google Shape;280;p19"/>
              <p:cNvSpPr/>
              <p:nvPr/>
            </p:nvSpPr>
            <p:spPr>
              <a:xfrm>
                <a:off x="0" y="0"/>
                <a:ext cx="3743400" cy="705000"/>
              </a:xfrm>
              <a:prstGeom prst="roundRect">
                <a:avLst>
                  <a:gd fmla="val 8108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BCE0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19"/>
              <p:cNvSpPr txBox="1"/>
              <p:nvPr/>
            </p:nvSpPr>
            <p:spPr>
              <a:xfrm>
                <a:off x="114300" y="76200"/>
                <a:ext cx="35148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FFFFF"/>
                    </a:solidFill>
                    <a:highlight>
                      <a:srgbClr val="0070C0"/>
                    </a:highlight>
                    <a:latin typeface="Oswald"/>
                    <a:ea typeface="Oswald"/>
                    <a:cs typeface="Oswald"/>
                    <a:sym typeface="Oswald"/>
                  </a:rPr>
                  <a:t> [ ats.aq ] </a:t>
                </a:r>
                <a:r>
                  <a:rPr b="1" lang="en" sz="950">
                    <a:solidFill>
                      <a:srgbClr val="00336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➔ Antarctic Treaty Secretariat</a:t>
                </a:r>
                <a:endParaRPr sz="9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Madrid Environmental Protocol Annex III &amp; IV</a:t>
                </a:r>
                <a:endParaRPr sz="8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2" name="Google Shape;282;p19"/>
            <p:cNvGrpSpPr/>
            <p:nvPr/>
          </p:nvGrpSpPr>
          <p:grpSpPr>
            <a:xfrm>
              <a:off x="152400" y="2838450"/>
              <a:ext cx="3743400" cy="705000"/>
              <a:chOff x="0" y="0"/>
              <a:chExt cx="3743400" cy="705000"/>
            </a:xfrm>
          </p:grpSpPr>
          <p:sp>
            <p:nvSpPr>
              <p:cNvPr id="283" name="Google Shape;283;p19"/>
              <p:cNvSpPr/>
              <p:nvPr/>
            </p:nvSpPr>
            <p:spPr>
              <a:xfrm>
                <a:off x="0" y="0"/>
                <a:ext cx="3743400" cy="705000"/>
              </a:xfrm>
              <a:prstGeom prst="roundRect">
                <a:avLst>
                  <a:gd fmla="val 8108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BCE0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19"/>
              <p:cNvSpPr txBox="1"/>
              <p:nvPr/>
            </p:nvSpPr>
            <p:spPr>
              <a:xfrm>
                <a:off x="114300" y="76200"/>
                <a:ext cx="35148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FFFFF"/>
                    </a:solidFill>
                    <a:highlight>
                      <a:srgbClr val="0070C0"/>
                    </a:highlight>
                    <a:latin typeface="Oswald"/>
                    <a:ea typeface="Oswald"/>
                    <a:cs typeface="Oswald"/>
                    <a:sym typeface="Oswald"/>
                  </a:rPr>
                  <a:t> [ scar.org ] </a:t>
                </a:r>
                <a:r>
                  <a:rPr b="1" lang="en" sz="950">
                    <a:solidFill>
                      <a:srgbClr val="00336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➔ Scientific Committee on Antarctic Research</a:t>
                </a:r>
                <a:endParaRPr sz="9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Polar environmental &amp; data standards</a:t>
                </a:r>
                <a:endParaRPr sz="8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5" name="Google Shape;285;p19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286" name="Google Shape;286;p19"/>
          <p:cNvGrpSpPr/>
          <p:nvPr/>
        </p:nvGrpSpPr>
        <p:grpSpPr>
          <a:xfrm>
            <a:off x="4714875" y="809625"/>
            <a:ext cx="4048200" cy="3762300"/>
            <a:chOff x="0" y="0"/>
            <a:chExt cx="4048200" cy="3762300"/>
          </a:xfrm>
        </p:grpSpPr>
        <p:sp>
          <p:nvSpPr>
            <p:cNvPr id="287" name="Google Shape;287;p19"/>
            <p:cNvSpPr/>
            <p:nvPr/>
          </p:nvSpPr>
          <p:spPr>
            <a:xfrm>
              <a:off x="0" y="0"/>
              <a:ext cx="4048200" cy="3762300"/>
            </a:xfrm>
            <a:prstGeom prst="roundRect">
              <a:avLst>
                <a:gd fmla="val 2025" name="adj"/>
              </a:avLst>
            </a:prstGeom>
            <a:solidFill>
              <a:srgbClr val="FFFFFF"/>
            </a:solidFill>
            <a:ln cap="flat" cmpd="sng" w="1430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0" y="0"/>
              <a:ext cx="4048200" cy="400200"/>
            </a:xfrm>
            <a:prstGeom prst="roundRect">
              <a:avLst>
                <a:gd fmla="val 19047" name="adj"/>
              </a:avLst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0" y="257175"/>
              <a:ext cx="4048200" cy="142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9"/>
            <p:cNvSpPr txBox="1"/>
            <p:nvPr/>
          </p:nvSpPr>
          <p:spPr>
            <a:xfrm>
              <a:off x="0" y="0"/>
              <a:ext cx="40482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TECHNICAL &amp; PROTOCOL REFERENCES</a:t>
              </a:r>
              <a:endParaRPr b="1" sz="1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grpSp>
          <p:nvGrpSpPr>
            <p:cNvPr id="291" name="Google Shape;291;p19"/>
            <p:cNvGrpSpPr/>
            <p:nvPr/>
          </p:nvGrpSpPr>
          <p:grpSpPr>
            <a:xfrm>
              <a:off x="152400" y="495300"/>
              <a:ext cx="3743400" cy="705000"/>
              <a:chOff x="0" y="0"/>
              <a:chExt cx="3743400" cy="705000"/>
            </a:xfrm>
          </p:grpSpPr>
          <p:sp>
            <p:nvSpPr>
              <p:cNvPr id="292" name="Google Shape;292;p19"/>
              <p:cNvSpPr/>
              <p:nvPr/>
            </p:nvSpPr>
            <p:spPr>
              <a:xfrm>
                <a:off x="0" y="0"/>
                <a:ext cx="3743400" cy="705000"/>
              </a:xfrm>
              <a:prstGeom prst="roundRect">
                <a:avLst>
                  <a:gd fmla="val 8108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BCE0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19"/>
              <p:cNvSpPr txBox="1"/>
              <p:nvPr/>
            </p:nvSpPr>
            <p:spPr>
              <a:xfrm>
                <a:off x="114300" y="76200"/>
                <a:ext cx="35148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FFFFF"/>
                    </a:solidFill>
                    <a:highlight>
                      <a:srgbClr val="0070C0"/>
                    </a:highlight>
                    <a:latin typeface="Oswald"/>
                    <a:ea typeface="Oswald"/>
                    <a:cs typeface="Oswald"/>
                    <a:sym typeface="Oswald"/>
                  </a:rPr>
                  <a:t> [ cospas-sarsat.int ] </a:t>
                </a:r>
                <a:r>
                  <a:rPr b="1" lang="en" sz="950">
                    <a:solidFill>
                      <a:srgbClr val="00336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➔ International Satellite SAR</a:t>
                </a:r>
                <a:endParaRPr sz="9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406 MHz satellite Search &amp; Rescue distress beacon specifications</a:t>
                </a:r>
                <a:endParaRPr sz="8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4" name="Google Shape;294;p19"/>
            <p:cNvGrpSpPr/>
            <p:nvPr/>
          </p:nvGrpSpPr>
          <p:grpSpPr>
            <a:xfrm>
              <a:off x="152400" y="1276350"/>
              <a:ext cx="3743400" cy="705000"/>
              <a:chOff x="0" y="0"/>
              <a:chExt cx="3743400" cy="705000"/>
            </a:xfrm>
          </p:grpSpPr>
          <p:sp>
            <p:nvSpPr>
              <p:cNvPr id="295" name="Google Shape;295;p19"/>
              <p:cNvSpPr/>
              <p:nvPr/>
            </p:nvSpPr>
            <p:spPr>
              <a:xfrm>
                <a:off x="0" y="0"/>
                <a:ext cx="3743400" cy="705000"/>
              </a:xfrm>
              <a:prstGeom prst="roundRect">
                <a:avLst>
                  <a:gd fmla="val 8108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BCE0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19"/>
              <p:cNvSpPr txBox="1"/>
              <p:nvPr/>
            </p:nvSpPr>
            <p:spPr>
              <a:xfrm>
                <a:off x="114300" y="76200"/>
                <a:ext cx="35148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FFFFF"/>
                    </a:solidFill>
                    <a:highlight>
                      <a:srgbClr val="0070C0"/>
                    </a:highlight>
                    <a:latin typeface="Oswald"/>
                    <a:ea typeface="Oswald"/>
                    <a:cs typeface="Oswald"/>
                    <a:sym typeface="Oswald"/>
                  </a:rPr>
                  <a:t> [ epsg.io/3031 ] </a:t>
                </a:r>
                <a:r>
                  <a:rPr b="1" lang="en" sz="950">
                    <a:solidFill>
                      <a:srgbClr val="00336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➔ EPSG:3031 Polar Coordinate Reference</a:t>
                </a:r>
                <a:endParaRPr sz="9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WGS 84 Antarctic Polar Stereographic geospatial projection</a:t>
                </a:r>
                <a:endParaRPr sz="8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" name="Google Shape;297;p19"/>
            <p:cNvGrpSpPr/>
            <p:nvPr/>
          </p:nvGrpSpPr>
          <p:grpSpPr>
            <a:xfrm>
              <a:off x="152400" y="2057400"/>
              <a:ext cx="3743400" cy="705000"/>
              <a:chOff x="0" y="0"/>
              <a:chExt cx="3743400" cy="705000"/>
            </a:xfrm>
          </p:grpSpPr>
          <p:sp>
            <p:nvSpPr>
              <p:cNvPr id="298" name="Google Shape;298;p19"/>
              <p:cNvSpPr/>
              <p:nvPr/>
            </p:nvSpPr>
            <p:spPr>
              <a:xfrm>
                <a:off x="0" y="0"/>
                <a:ext cx="3743400" cy="705000"/>
              </a:xfrm>
              <a:prstGeom prst="roundRect">
                <a:avLst>
                  <a:gd fmla="val 8108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BCE0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19"/>
              <p:cNvSpPr txBox="1"/>
              <p:nvPr/>
            </p:nvSpPr>
            <p:spPr>
              <a:xfrm>
                <a:off x="114300" y="76200"/>
                <a:ext cx="35148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FFFFF"/>
                    </a:solidFill>
                    <a:highlight>
                      <a:srgbClr val="0070C0"/>
                    </a:highlight>
                    <a:latin typeface="Oswald"/>
                    <a:ea typeface="Oswald"/>
                    <a:cs typeface="Oswald"/>
                    <a:sym typeface="Oswald"/>
                  </a:rPr>
                  <a:t> [ mqtt.org / ISO:20922 ] </a:t>
                </a:r>
                <a:r>
                  <a:rPr b="1" lang="en" sz="950">
                    <a:solidFill>
                      <a:srgbClr val="00336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➔ Lightweight Messaging</a:t>
                </a:r>
                <a:endParaRPr sz="9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Lightweight messaging transport standard for low-bandwidth satellite links</a:t>
                </a:r>
                <a:endParaRPr sz="8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0" name="Google Shape;300;p19"/>
            <p:cNvGrpSpPr/>
            <p:nvPr/>
          </p:nvGrpSpPr>
          <p:grpSpPr>
            <a:xfrm>
              <a:off x="152400" y="2838450"/>
              <a:ext cx="3743400" cy="705000"/>
              <a:chOff x="0" y="0"/>
              <a:chExt cx="3743400" cy="705000"/>
            </a:xfrm>
          </p:grpSpPr>
          <p:sp>
            <p:nvSpPr>
              <p:cNvPr id="301" name="Google Shape;301;p19"/>
              <p:cNvSpPr/>
              <p:nvPr/>
            </p:nvSpPr>
            <p:spPr>
              <a:xfrm>
                <a:off x="0" y="0"/>
                <a:ext cx="3743400" cy="705000"/>
              </a:xfrm>
              <a:prstGeom prst="roundRect">
                <a:avLst>
                  <a:gd fmla="val 8108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BCE0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19"/>
              <p:cNvSpPr txBox="1"/>
              <p:nvPr/>
            </p:nvSpPr>
            <p:spPr>
              <a:xfrm>
                <a:off x="114300" y="76200"/>
                <a:ext cx="35148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FFFFF"/>
                    </a:solidFill>
                    <a:highlight>
                      <a:srgbClr val="0070C0"/>
                    </a:highlight>
                    <a:latin typeface="Oswald"/>
                    <a:ea typeface="Oswald"/>
                    <a:cs typeface="Oswald"/>
                    <a:sym typeface="Oswald"/>
                  </a:rPr>
                  <a:t> [ localfirstweb.com ] </a:t>
                </a:r>
                <a:r>
                  <a:rPr b="1" lang="en" sz="950">
                    <a:solidFill>
                      <a:srgbClr val="00336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➔ ACM Research: Local-First Software</a:t>
                </a:r>
                <a:endParaRPr sz="900">
                  <a:solidFill>
                    <a:srgbClr val="00336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Local-First Software &amp; Conflict-Free Replicated Data Types (CRDTs)</a:t>
                </a:r>
                <a:endParaRPr sz="8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3" name="Google Shape;303;p19"/>
          <p:cNvSpPr txBox="1"/>
          <p:nvPr>
            <p:ph idx="11" type="ftr"/>
          </p:nvPr>
        </p:nvSpPr>
        <p:spPr>
          <a:xfrm>
            <a:off x="3486150" y="4767265"/>
            <a:ext cx="240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700"/>
              <a:buFont typeface="Oswald"/>
              <a:buNone/>
            </a:pPr>
            <a:r>
              <a:rPr lang="en" sz="700">
                <a:solidFill>
                  <a:srgbClr val="6E6E6E"/>
                </a:solidFill>
              </a:rPr>
              <a:t>SIH 2026 Idea Submission | PS: SIH26062 | MoES / NCPOR</a:t>
            </a:r>
            <a:endParaRPr b="0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04" name="Google Shape;30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5" y="1125"/>
            <a:ext cx="1687388" cy="796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9" title="icon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35725"/>
            <a:ext cx="982025" cy="98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